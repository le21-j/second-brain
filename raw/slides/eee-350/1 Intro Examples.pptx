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DB9892-7E0F-402D-97A7-C3DE038D1F1A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96EEE-5ECD-4C93-81C1-39A06B631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735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79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79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79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50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006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32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80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018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44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72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9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86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743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8646-2D0F-4EEA-9B85-BBED33539F6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DF860-3435-42D1-97AB-6EAF6F372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186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A8646-2D0F-4EEA-9B85-BBED33539F64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DDF860-3435-42D1-97AB-6EAF6F3722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8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4.xml"/><Relationship Id="rId7" Type="http://schemas.openxmlformats.org/officeDocument/2006/relationships/image" Target="../media/image5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8.png"/><Relationship Id="rId4" Type="http://schemas.openxmlformats.org/officeDocument/2006/relationships/tags" Target="../tags/tag5.xml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EEE 350: Random Signal Analysis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31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Example: Birthday Problem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62000" y="2133600"/>
            <a:ext cx="6629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Birthday problem: Given </a:t>
            </a:r>
            <a:r>
              <a:rPr lang="en-US" sz="2000" i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0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people in a room, what is the probability that 2 or more people will have the same birthday?</a:t>
            </a:r>
          </a:p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– “Probability that all </a:t>
            </a:r>
            <a:r>
              <a:rPr lang="en-US" sz="2000" i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0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people have different </a:t>
            </a:r>
            <a:r>
              <a:rPr lang="en-US" sz="2000" dirty="0" err="1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bdays</a:t>
            </a:r>
            <a:r>
              <a:rPr lang="en-US" sz="2000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4800600"/>
            <a:ext cx="4820898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826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Example: Birthday Problem</a:t>
            </a:r>
            <a:endParaRPr lang="en-US" sz="3600" dirty="0"/>
          </a:p>
        </p:txBody>
      </p:sp>
      <p:pic>
        <p:nvPicPr>
          <p:cNvPr id="2050" name="Picture 2" descr="C:\Users\ctepede\Desktop\1280px-Birthday_Paradox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057400"/>
            <a:ext cx="5867400" cy="3777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914400" y="6259586"/>
            <a:ext cx="4648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http://en.wikipedia.org/wiki/Birthday_problem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2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Example: Monty Hall Problem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1905000"/>
            <a:ext cx="66294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  <a:cs typeface="Arial" panose="020B0604020202020204" pitchFamily="34" charset="0"/>
              </a:rPr>
              <a:t>Game show setting; 3 doors: 2 Goats, 1 Car</a:t>
            </a:r>
          </a:p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  <a:cs typeface="Arial" panose="020B0604020202020204" pitchFamily="34" charset="0"/>
              </a:rPr>
              <a:t>You chose one door. Host opens one of the doors that you didn’t pick </a:t>
            </a:r>
            <a:r>
              <a:rPr lang="en-US" sz="2000" b="1" i="1" u="sng" dirty="0" smtClean="0">
                <a:solidFill>
                  <a:prstClr val="black"/>
                </a:solidFill>
                <a:cs typeface="Arial" panose="020B0604020202020204" pitchFamily="34" charset="0"/>
              </a:rPr>
              <a:t>and</a:t>
            </a:r>
            <a:r>
              <a:rPr lang="en-US" sz="2000" dirty="0" smtClean="0">
                <a:solidFill>
                  <a:prstClr val="black"/>
                </a:solidFill>
                <a:cs typeface="Arial" panose="020B0604020202020204" pitchFamily="34" charset="0"/>
              </a:rPr>
              <a:t> has a goat.</a:t>
            </a:r>
          </a:p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  <a:cs typeface="Arial" panose="020B0604020202020204" pitchFamily="34" charset="0"/>
              </a:rPr>
              <a:t>You have the option to stick with your choice or switch</a:t>
            </a:r>
          </a:p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  <a:cs typeface="Arial" panose="020B0604020202020204" pitchFamily="34" charset="0"/>
              </a:rPr>
              <a:t>What should you do??</a:t>
            </a:r>
          </a:p>
        </p:txBody>
      </p:sp>
      <p:pic>
        <p:nvPicPr>
          <p:cNvPr id="1026" name="Picture 2" descr="C:\Users\ctepede\Desktop\220px-Monty_open_door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800599"/>
            <a:ext cx="3486150" cy="193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924425" y="6248400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http://en.wikipedia.org/wiki/Monty_Hall_problem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55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Example: Monty Hall Problem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1789471"/>
            <a:ext cx="66294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  <a:cs typeface="Arial" panose="020B0604020202020204" pitchFamily="34" charset="0"/>
              </a:rPr>
              <a:t>Assume you are committed to switching.</a:t>
            </a:r>
          </a:p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  <a:cs typeface="Arial" panose="020B0604020202020204" pitchFamily="34" charset="0"/>
              </a:rPr>
              <a:t>If you had selected a C initially, then switching will lead to a G (why?)</a:t>
            </a:r>
          </a:p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  <a:cs typeface="Arial" panose="020B0604020202020204" pitchFamily="34" charset="0"/>
              </a:rPr>
              <a:t>If you had selected a G initially, the switching will lead to a C.</a:t>
            </a:r>
          </a:p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  <a:cs typeface="Arial" panose="020B0604020202020204" pitchFamily="34" charset="0"/>
              </a:rPr>
              <a:t>Since selecting a G initially is more likely (2/3 </a:t>
            </a:r>
            <a:r>
              <a:rPr lang="en-US" sz="2000" dirty="0" err="1" smtClean="0">
                <a:solidFill>
                  <a:prstClr val="black"/>
                </a:solidFill>
                <a:cs typeface="Arial" panose="020B0604020202020204" pitchFamily="34" charset="0"/>
              </a:rPr>
              <a:t>prob</a:t>
            </a:r>
            <a:r>
              <a:rPr lang="en-US" sz="2000" dirty="0" smtClean="0">
                <a:solidFill>
                  <a:prstClr val="black"/>
                </a:solidFill>
                <a:cs typeface="Arial" panose="020B0604020202020204" pitchFamily="34" charset="0"/>
              </a:rPr>
              <a:t>), then switching is the best policy</a:t>
            </a:r>
          </a:p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black"/>
                </a:solidFill>
                <a:cs typeface="Arial" panose="020B0604020202020204" pitchFamily="34" charset="0"/>
              </a:rPr>
              <a:t>Conclusion: Switching is twice more likely to win you a car than sticking with your original choice!</a:t>
            </a:r>
          </a:p>
          <a:p>
            <a:pPr marL="342900" indent="-34290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cs typeface="Arial" panose="020B0604020202020204" pitchFamily="34" charset="0"/>
              </a:rPr>
              <a:t>T</a:t>
            </a:r>
            <a:r>
              <a:rPr lang="en-US" sz="2000" dirty="0" smtClean="0">
                <a:solidFill>
                  <a:prstClr val="black"/>
                </a:solidFill>
                <a:cs typeface="Arial" panose="020B0604020202020204" pitchFamily="34" charset="0"/>
              </a:rPr>
              <a:t>he extra info that the host provides is useful!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20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Example: The Hat Problem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85800" y="1789471"/>
                <a:ext cx="7620000" cy="3323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SzPct val="150000"/>
                  <a:buFont typeface="Arial" panose="020B0604020202020204" pitchFamily="34" charset="0"/>
                  <a:buChar char="•"/>
                </a:pPr>
                <a:r>
                  <a:rPr lang="en-US" sz="2000" i="1" dirty="0" smtClean="0">
                    <a:solidFill>
                      <a:prstClr val="black"/>
                    </a:solidFill>
                    <a:cs typeface="Arial" panose="020B0604020202020204" pitchFamily="34" charset="0"/>
                  </a:rPr>
                  <a:t>n</a:t>
                </a:r>
                <a:r>
                  <a:rPr lang="en-US" sz="2000" dirty="0" smtClean="0">
                    <a:solidFill>
                      <a:prstClr val="black"/>
                    </a:solidFill>
                    <a:cs typeface="Arial" panose="020B0604020202020204" pitchFamily="34" charset="0"/>
                  </a:rPr>
                  <a:t> people throw their hats in a box and pick one at random</a:t>
                </a:r>
              </a:p>
              <a:p>
                <a:pPr marL="342900" indent="-342900">
                  <a:lnSpc>
                    <a:spcPct val="150000"/>
                  </a:lnSpc>
                  <a:buSzPct val="150000"/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solidFill>
                      <a:prstClr val="black"/>
                    </a:solidFill>
                    <a:cs typeface="Arial" panose="020B0604020202020204" pitchFamily="34" charset="0"/>
                  </a:rPr>
                  <a:t>How many people will get their own hats back?</a:t>
                </a:r>
              </a:p>
              <a:p>
                <a:pPr marL="342900" indent="-342900">
                  <a:lnSpc>
                    <a:spcPct val="150000"/>
                  </a:lnSpc>
                  <a:buSzPct val="150000"/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solidFill>
                      <a:prstClr val="black"/>
                    </a:solidFill>
                    <a:cs typeface="Arial" panose="020B0604020202020204" pitchFamily="34" charset="0"/>
                  </a:rPr>
                  <a:t>Different versions: couples at a party; shuffled decks etc..</a:t>
                </a:r>
              </a:p>
              <a:p>
                <a:pPr marL="342900" indent="-342900">
                  <a:lnSpc>
                    <a:spcPct val="150000"/>
                  </a:lnSpc>
                  <a:buSzPct val="150000"/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solidFill>
                      <a:prstClr val="black"/>
                    </a:solidFill>
                    <a:cs typeface="Arial" panose="020B0604020202020204" pitchFamily="34" charset="0"/>
                  </a:rPr>
                  <a:t>It is clearly a number in 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2000" b="0" i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{</m:t>
                    </m:r>
                    <m:r>
                      <a:rPr lang="en-US" sz="2000" b="0" i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0,1,2, …, </m:t>
                    </m:r>
                    <m:r>
                      <a:rPr lang="en-US" sz="2000" b="0" i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𝑛</m:t>
                    </m:r>
                    <m:r>
                      <m:rPr>
                        <m:lit/>
                      </m:rPr>
                      <a:rPr lang="en-US" sz="2000" b="0" i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sz="2000" dirty="0" smtClean="0">
                    <a:solidFill>
                      <a:prstClr val="black"/>
                    </a:solidFill>
                    <a:cs typeface="Arial" panose="020B0604020202020204" pitchFamily="34" charset="0"/>
                  </a:rPr>
                  <a:t>; Let’s call this number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prstClr val="black"/>
                        </a:solidFill>
                        <a:latin typeface="Cambria Math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endParaRPr lang="en-US" sz="2000" i="1" dirty="0" smtClean="0">
                  <a:solidFill>
                    <a:prstClr val="black"/>
                  </a:solidFill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SzPct val="150000"/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solidFill>
                      <a:prstClr val="black"/>
                    </a:solidFill>
                    <a:cs typeface="Arial" panose="020B0604020202020204" pitchFamily="34" charset="0"/>
                  </a:rPr>
                  <a:t>Some interesting facts:</a:t>
                </a:r>
              </a:p>
              <a:p>
                <a:pPr marL="800100" lvl="1" indent="-342900">
                  <a:lnSpc>
                    <a:spcPct val="150000"/>
                  </a:lnSpc>
                  <a:buSzPct val="150000"/>
                  <a:buFont typeface="Arial" panose="020B0604020202020204" pitchFamily="34" charset="0"/>
                  <a:buChar char="•"/>
                </a:pPr>
                <a:endParaRPr lang="en-US" sz="2000" dirty="0" smtClean="0">
                  <a:solidFill>
                    <a:prstClr val="black"/>
                  </a:solidFill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50000"/>
                  </a:lnSpc>
                  <a:buSzPct val="150000"/>
                  <a:buFont typeface="Arial" panose="020B0604020202020204" pitchFamily="34" charset="0"/>
                  <a:buChar char="•"/>
                </a:pPr>
                <a:endParaRPr lang="en-US" sz="2000" dirty="0" smtClean="0">
                  <a:solidFill>
                    <a:prstClr val="black"/>
                  </a:solidFill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789471"/>
                <a:ext cx="7620000" cy="3323987"/>
              </a:xfrm>
              <a:prstGeom prst="rect">
                <a:avLst/>
              </a:prstGeom>
              <a:blipFill rotWithShape="1">
                <a:blip r:embed="rId6"/>
                <a:stretch>
                  <a:fillRect l="-1680" t="-2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381" y="4419600"/>
            <a:ext cx="1839468" cy="2514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713" y="5334000"/>
            <a:ext cx="4235196" cy="72847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059" y="6145530"/>
            <a:ext cx="1005840" cy="2514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943" y="4987728"/>
            <a:ext cx="1856232" cy="25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166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Example: The Hat Problem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7" name="Picture 3" descr="C:\Users\ctepede\Desktop\matching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72098"/>
            <a:ext cx="6934200" cy="520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8305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83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71.75"/>
  <p:tag name="ORIGINALWIDTH" val="1358.25"/>
  <p:tag name="LATEXADDIN" val="\documentclass{article}&#10;\usepackage{amsmath}&#10;\pagestyle{empty}&#10;\begin{document}&#10;$1-\frac{365\times 364 \times \cdots \times (365-N+1)}{365^N}$&#10;\end{document}"/>
  <p:tag name="IGUANATEXSIZE" val="20"/>
  <p:tag name="IGUANATEXCURSOR" val="1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5"/>
  <p:tag name="ORIGINALWIDTH" val="905.25"/>
  <p:tag name="LATEXADDIN" val="\documentclass{article}&#10;\usepackage{amsmath}&#10;\pagestyle{empty}&#10;\begin{document}&#10;$P[X=n]= 1/n!$&#10;\end{document}"/>
  <p:tag name="IGUANATEXSIZE" val="20"/>
  <p:tag name="IGUANATEXCURSOR" val="9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58.5"/>
  <p:tag name="ORIGINALWIDTH" val="2084.25"/>
  <p:tag name="LATEXADDIN" val="\documentclass{article}&#10;\usepackage{amsmath}&#10;\pagestyle{empty}&#10;\begin{document}&#10;$$P[X=0] = \sum_{j=0}^n{\frac{(-1)^j}{j!}} \approx 1/e,\;\; n \;\;{\rm large}$$&#10;\end{document}"/>
  <p:tag name="IGUANATEXSIZE" val="20"/>
  <p:tag name="IGUANATEXCURSOR" val="13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5"/>
  <p:tag name="ORIGINALWIDTH" val="495"/>
  <p:tag name="LATEXADDIN" val="\documentclass{article}&#10;\usepackage{amsmath}&#10;\pagestyle{empty}&#10;\begin{document}&#10;$$E[X] = 1$$&#10;\end{document}"/>
  <p:tag name="IGUANATEXSIZE" val="20"/>
  <p:tag name="IGUANATEXCURSOR" val="9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3.75"/>
  <p:tag name="ORIGINALWIDTH" val="913.5"/>
  <p:tag name="LATEXADDIN" val="\documentclass{article}&#10;\usepackage{amsmath}&#10;\pagestyle{empty}&#10;\begin{document}&#10;$P[X=n-1]= ?$&#10;\end{document}"/>
  <p:tag name="IGUANATEXSIZE" val="20"/>
  <p:tag name="IGUANATEXCURSOR" val="9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308</Words>
  <Application>Microsoft Office PowerPoint</Application>
  <PresentationFormat>On-screen Show (4:3)</PresentationFormat>
  <Paragraphs>42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MS PGothic</vt:lpstr>
      <vt:lpstr>Akzidenz-Grotesk Pro Bold</vt:lpstr>
      <vt:lpstr>Arial</vt:lpstr>
      <vt:lpstr>Calibri</vt:lpstr>
      <vt:lpstr>Cambria Math</vt:lpstr>
      <vt:lpstr>Office Theme</vt:lpstr>
      <vt:lpstr>EEE 350: Random Signal Analysis</vt:lpstr>
      <vt:lpstr>Example: Birthday Problem</vt:lpstr>
      <vt:lpstr>Example: Birthday Problem</vt:lpstr>
      <vt:lpstr>Example: Monty Hall Problem</vt:lpstr>
      <vt:lpstr>Example: Monty Hall Problem</vt:lpstr>
      <vt:lpstr>Example: The Hat Problem</vt:lpstr>
      <vt:lpstr>Example: The Hat Problem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EEE 350: Random Signal Analysis</dc:title>
  <dc:creator>Cihan Tepedelenlioglu</dc:creator>
  <cp:lastModifiedBy>Abhilash Sureshbabu</cp:lastModifiedBy>
  <cp:revision>8</cp:revision>
  <dcterms:created xsi:type="dcterms:W3CDTF">2015-06-06T00:15:35Z</dcterms:created>
  <dcterms:modified xsi:type="dcterms:W3CDTF">2016-02-19T00:01:49Z</dcterms:modified>
</cp:coreProperties>
</file>