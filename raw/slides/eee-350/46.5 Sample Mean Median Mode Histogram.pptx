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262" r:id="rId4"/>
    <p:sldId id="263" r:id="rId5"/>
    <p:sldId id="268" r:id="rId6"/>
    <p:sldId id="264" r:id="rId7"/>
    <p:sldId id="265" r:id="rId8"/>
    <p:sldId id="269" r:id="rId9"/>
    <p:sldId id="266" r:id="rId10"/>
    <p:sldId id="267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2F922-C597-4C07-A984-87CF785F55A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333E-12A1-401A-A995-34748499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1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25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7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9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66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4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4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2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1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8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7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6.xml"/><Relationship Id="rId7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0.xml"/><Relationship Id="rId7" Type="http://schemas.openxmlformats.org/officeDocument/2006/relationships/notesSlide" Target="../notesSlides/notesSlide6.xml"/><Relationship Id="rId12" Type="http://schemas.openxmlformats.org/officeDocument/2006/relationships/image" Target="../media/image12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5" Type="http://schemas.openxmlformats.org/officeDocument/2006/relationships/tags" Target="../tags/tag12.xml"/><Relationship Id="rId10" Type="http://schemas.openxmlformats.org/officeDocument/2006/relationships/image" Target="../media/image10.png"/><Relationship Id="rId4" Type="http://schemas.openxmlformats.org/officeDocument/2006/relationships/tags" Target="../tags/tag11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Summarizing and Visualizing Data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1905000"/>
            <a:ext cx="6871946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Problem: “Big data” and often no given (probability)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Convenient to summarize the data by processing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Most common examples 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Sample mean (average)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Sample variance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Sample covariance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smtClean="0"/>
              <a:t>Sample moments</a:t>
            </a:r>
            <a:endParaRPr lang="en-US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Quantiles, order stats., and sample median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Histogram</a:t>
            </a:r>
          </a:p>
          <a:p>
            <a:pPr lvl="1"/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These can be viewed as “estimators” in a probabilistic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Or, simply descriptive statistics, with no reference to a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391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Sample Mean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93198" y="3886200"/>
            <a:ext cx="669702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Represent entire data with one number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“Average” of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Due to LLN, approximates the expected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It is the ML or MAP estimator in many (e.g., Gaussian)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277070"/>
            <a:ext cx="1909713" cy="99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569184"/>
            <a:ext cx="11856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Given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246" y="1652617"/>
            <a:ext cx="1754124" cy="25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Sample Variance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93198" y="3429000"/>
            <a:ext cx="722005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“Variability” of data around the sample mean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Square root yields sample </a:t>
            </a:r>
            <a:r>
              <a:rPr lang="en-US" sz="2000" dirty="0" err="1" smtClean="0"/>
              <a:t>std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Due to LLN, approximates the 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It is the ML or MAP estimator of variance for some prob.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371117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4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Sample covariance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15519" y="3843368"/>
            <a:ext cx="7469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Due to LLN, approximates the covariance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It is the ML or MAP estimator in some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Can be normalized by sample variance(s) to approx. the corr. </a:t>
            </a:r>
            <a:r>
              <a:rPr lang="en-US" sz="2000" dirty="0" err="1"/>
              <a:t>c</a:t>
            </a:r>
            <a:r>
              <a:rPr lang="en-US" sz="2000" dirty="0" err="1" smtClean="0"/>
              <a:t>oeff</a:t>
            </a:r>
            <a:r>
              <a:rPr lang="en-US" sz="20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98" y="2514600"/>
            <a:ext cx="5104143" cy="99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569184"/>
            <a:ext cx="12433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Given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185" y="1670143"/>
            <a:ext cx="3087624" cy="25298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920" y="5181603"/>
            <a:ext cx="5128653" cy="96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Other Sample Moments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3198" y="3429000"/>
            <a:ext cx="80610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Due to LLN, approximates the nth moment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It is the ML or MAP estimator in some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Can be used to estimate important quantities (we will not cover) such 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Cumulants</a:t>
            </a:r>
            <a:endParaRPr lang="en-US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Skewness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Kurtosis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1524000"/>
            <a:ext cx="3280213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9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Sample Mode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2841" y="2057400"/>
            <a:ext cx="742626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… or just “mode”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most often occurring value in a set of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Not very meaningful if distribution is continuous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 the discrete case, is an estimator for the location of max of PMF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3524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Order Statistics and Related Quantities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2840" y="1760273"/>
            <a:ext cx="7595605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Given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One can rank the data from larges to smallest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These are “order statistics”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From this list one can extract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Max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Median (50% are bigger, 50% smaller from median),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Quantilies</a:t>
            </a:r>
            <a:r>
              <a:rPr lang="en-US" sz="2000" dirty="0" smtClean="0"/>
              <a:t> (instead of 2 equal groups break it up into more)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median is similar to the mean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Much less sensitive to “outliers” (e.g. income distribution)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Median filtering in image processing due to “salt-and-pepper noise”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What happens to the median when a new sample 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with a very large value is added?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What happens to the sample mean?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182" y="1905000"/>
            <a:ext cx="1129284" cy="1600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27" y="2209800"/>
            <a:ext cx="1068324" cy="1600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576" y="3124200"/>
            <a:ext cx="192024" cy="1493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572" y="3429000"/>
            <a:ext cx="278892" cy="1493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469" y="3733800"/>
            <a:ext cx="896112" cy="20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6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57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Histogram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74703" y="1371600"/>
            <a:ext cx="733002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graphical representation of “frequency distribution”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AKA bar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more complete description of the data than mean and 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Can be thought of as an estimate of PDF or PMF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Needs some smoothing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Has the info on sample (mean, median, mode, quantiles </a:t>
            </a:r>
            <a:r>
              <a:rPr lang="en-US" sz="2000" dirty="0" err="1" smtClean="0"/>
              <a:t>etc</a:t>
            </a:r>
            <a:r>
              <a:rPr lang="en-US" sz="2000" dirty="0" smtClean="0"/>
              <a:t>)</a:t>
            </a:r>
          </a:p>
        </p:txBody>
      </p:sp>
      <p:pic>
        <p:nvPicPr>
          <p:cNvPr id="1026" name="Picture 2" descr="C:\Users\ctepede\Desktop\Gaussian histogram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18" y="3310592"/>
            <a:ext cx="4720701" cy="354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76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Histogram (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Matlab</a:t>
            </a:r>
            <a:r>
              <a:rPr lang="en-US" sz="2000" dirty="0"/>
              <a:t> command “</a:t>
            </a:r>
            <a:r>
              <a:rPr lang="en-US" sz="2000" dirty="0" err="1"/>
              <a:t>hist</a:t>
            </a:r>
            <a:r>
              <a:rPr lang="en-US" sz="2000" dirty="0"/>
              <a:t>”</a:t>
            </a:r>
          </a:p>
          <a:p>
            <a:r>
              <a:rPr lang="en-US" sz="2000" dirty="0"/>
              <a:t>e.g., </a:t>
            </a:r>
            <a:r>
              <a:rPr lang="en-US" sz="2000" dirty="0" err="1"/>
              <a:t>hist</a:t>
            </a:r>
            <a:r>
              <a:rPr lang="en-US" sz="2000" dirty="0"/>
              <a:t>(</a:t>
            </a:r>
            <a:r>
              <a:rPr lang="en-US" sz="2000" dirty="0" err="1"/>
              <a:t>randn</a:t>
            </a:r>
            <a:r>
              <a:rPr lang="en-US" sz="2000" dirty="0"/>
              <a:t>(1,100000),1000</a:t>
            </a:r>
            <a:r>
              <a:rPr lang="en-US" sz="2000" dirty="0" smtClean="0"/>
              <a:t>),  (</a:t>
            </a:r>
            <a:r>
              <a:rPr lang="en-US" sz="2000" dirty="0" err="1" smtClean="0"/>
              <a:t>prev</a:t>
            </a:r>
            <a:r>
              <a:rPr lang="en-US" sz="2000" dirty="0" smtClean="0"/>
              <a:t> slide) or </a:t>
            </a:r>
          </a:p>
          <a:p>
            <a:r>
              <a:rPr lang="en-US" sz="2000" dirty="0" err="1" smtClean="0"/>
              <a:t>hist</a:t>
            </a:r>
            <a:r>
              <a:rPr lang="en-US" sz="2000" dirty="0"/>
              <a:t>(-log(1-rand(1,100000)),1000</a:t>
            </a:r>
            <a:r>
              <a:rPr lang="en-US" sz="2000" dirty="0" smtClean="0"/>
              <a:t>) (below)</a:t>
            </a:r>
            <a:endParaRPr lang="en-US" sz="2000" dirty="0"/>
          </a:p>
          <a:p>
            <a:endParaRPr lang="en-US" dirty="0"/>
          </a:p>
        </p:txBody>
      </p:sp>
      <p:pic>
        <p:nvPicPr>
          <p:cNvPr id="2050" name="Picture 2" descr="C:\Users\ctepede\Desktop\exponential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95600"/>
            <a:ext cx="5029201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61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53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3.75"/>
  <p:tag name="ORIGINALWIDTH" val="701.25"/>
  <p:tag name="LATEXADDIN" val="\documentclass{article}&#10;\usepackage{amsmath}&#10;\pagestyle{empty}&#10;\begin{document}&#10;$$\bar x = \frac{1}{N}\sum_{i=1}^N x_i$$&#10;\end{document}"/>
  <p:tag name="IGUANATEXSIZE" val="20"/>
  <p:tag name="IGUANATEXCURSOR" val="1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863.25"/>
  <p:tag name="LATEXADDIN" val="\documentclass{article}&#10;\usepackage{amsmath}&#10;\pagestyle{empty}&#10;\begin{document}&#10;$${\bf x}=[x_1,\ldots,x_N]$$&#10;\end{document}"/>
  <p:tag name="IGUANATEXSIZE" val="20"/>
  <p:tag name="IGUANATEXCURSOR" val="10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3.75"/>
  <p:tag name="ORIGINALWIDTH" val="1362.75"/>
  <p:tag name="LATEXADDIN" val="\documentclass{article}&#10;\usepackage{amsmath}&#10;\pagestyle{empty}&#10;\begin{document}&#10;$${\sf svar}({\bf x}) = \frac{1}{N}\sum_{i=1}^N (x_i-\bar x)^2$$&#10;\end{document}"/>
  <p:tag name="IGUANATEXSIZE" val="20"/>
  <p:tag name="IGUANATEXCURSOR" val="9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3.75"/>
  <p:tag name="ORIGINALWIDTH" val="1874.25"/>
  <p:tag name="LATEXADDIN" val="\documentclass{article}&#10;\usepackage{amsmath}&#10;\pagestyle{empty}&#10;\begin{document}&#10;$${\sf scov}({\bf x},{\bf y})= \frac{1}{N}\sum_{i=1}^N (x_i-\bar x)(y_i-\bar y)$$&#10;\end{document}"/>
  <p:tag name="IGUANATEXSIZE" val="20"/>
  <p:tag name="IGUANATEXCURSOR" val="9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1519.5"/>
  <p:tag name="LATEXADDIN" val="\documentclass{article}&#10;\usepackage{amsmath}&#10;\pagestyle{empty}&#10;\begin{document}&#10;$$(x_1,y_1), (x_2,y_2), \ldots, (x_n,y_n)$$&#10;\end{document}"/>
  <p:tag name="IGUANATEXSIZE" val="20"/>
  <p:tag name="IGUANATEXCURSOR" val="12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54.75"/>
  <p:tag name="ORIGINALWIDTH" val="1883.25"/>
  <p:tag name="LATEXADDIN" val="\documentclass{article}&#10;\usepackage{amsmath}&#10;\pagestyle{empty}&#10;\begin{document}&#10;$${\sf s\rho}({\bf x},{\bf y})= \frac{\frac{1}{N}\sum_{i=1}^N (x_i-\bar x)(y_i-\bar y)}{\sqrt{{\sf svar}({\bf x})\;{\sf svar}({\bf y})}}$$&#10;\end{document}"/>
  <p:tag name="IGUANATEXSIZE" val="20"/>
  <p:tag name="IGUANATEXCURSOR" val="2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3.75"/>
  <p:tag name="ORIGINALWIDTH" val="1204.5"/>
  <p:tag name="LATEXADDIN" val="\documentclass{article}&#10;\usepackage{amsmath}&#10;\pagestyle{empty}&#10;\begin{document}&#10;$${\sf smom}_n({\bf x})  = \frac{1}{N}\sum_{i=1}^N x_i^n$$&#10;\end{document}"/>
  <p:tag name="IGUANATEXSIZE" val="20"/>
  <p:tag name="IGUANATEXCURSOR" val="13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.75"/>
  <p:tag name="ORIGINALWIDTH" val="555.75"/>
  <p:tag name="LATEXADDIN" val="\documentclass{article}&#10;\usepackage{amsmath}&#10;\pagestyle{empty}&#10;\begin{document}&#10;$$x_1,\ldots,x_N$$&#10;\end{document}"/>
  <p:tag name="IGUANATEXSIZE" val="20"/>
  <p:tag name="IGUANATEXCURSOR" val="9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.75"/>
  <p:tag name="ORIGINALWIDTH" val="525.75"/>
  <p:tag name="LATEXADDIN" val="\documentclass{article}&#10;\usepackage{amsmath}&#10;\pagestyle{empty}&#10;\begin{document}&#10;$$r_1,\ldots,r_N$$&#10;\end{document}"/>
  <p:tag name="IGUANATEXSIZE" val="20"/>
  <p:tag name="IGUANATEXCURSOR" val="9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"/>
  <p:tag name="ORIGINALWIDTH" val="94.5"/>
  <p:tag name="LATEXADDIN" val="\documentclass{article}&#10;\usepackage{amsmath}&#10;\pagestyle{empty}&#10;\begin{document}&#10;$$r_1$$&#10;\end{document}"/>
  <p:tag name="IGUANATEXSIZE" val="20"/>
  <p:tag name="IGUANATEXCURSOR" val="8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"/>
  <p:tag name="ORIGINALWIDTH" val="137.25"/>
  <p:tag name="LATEXADDIN" val="\documentclass{article}&#10;\usepackage{amsmath}&#10;\pagestyle{empty}&#10;\begin{document}&#10;$$r_N$$&#10;\end{document}"/>
  <p:tag name="IGUANATEXSIZE" val="20"/>
  <p:tag name="IGUANATEXCURSOR" val="8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"/>
  <p:tag name="ORIGINALWIDTH" val="441"/>
  <p:tag name="LATEXADDIN" val="\documentclass{article}&#10;\usepackage{amsmath}&#10;\pagestyle{empty}&#10;\begin{document}&#10;$$r_{(N+1)/2}$$&#10;\end{document}"/>
  <p:tag name="IGUANATEXSIZE" val="20"/>
  <p:tag name="IGUANATEXCURSOR" val="8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498</Words>
  <Application>Microsoft Office PowerPoint</Application>
  <PresentationFormat>On-screen Show (4:3)</PresentationFormat>
  <Paragraphs>90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MS PGothic</vt:lpstr>
      <vt:lpstr>Akzidenz-Grotesk Pro Bold</vt:lpstr>
      <vt:lpstr>Arial</vt:lpstr>
      <vt:lpstr>Calibri</vt:lpstr>
      <vt:lpstr>Office Theme</vt:lpstr>
      <vt:lpstr>Summarizing and Visualizing Data</vt:lpstr>
      <vt:lpstr>Sample Mean</vt:lpstr>
      <vt:lpstr>Sample Variance</vt:lpstr>
      <vt:lpstr>Sample covariance</vt:lpstr>
      <vt:lpstr>Other Sample Moments</vt:lpstr>
      <vt:lpstr>Sample Mode</vt:lpstr>
      <vt:lpstr>Order Statistics and Related Quantities</vt:lpstr>
      <vt:lpstr>PowerPoint Presentation</vt:lpstr>
      <vt:lpstr>Histogram</vt:lpstr>
      <vt:lpstr>Histogram (Cont’)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Cards Problem</dc:title>
  <dc:creator>Cihan Tepedelenlioglu</dc:creator>
  <cp:lastModifiedBy>Abhilash Sureshbabu</cp:lastModifiedBy>
  <cp:revision>19</cp:revision>
  <dcterms:created xsi:type="dcterms:W3CDTF">2015-09-26T00:20:12Z</dcterms:created>
  <dcterms:modified xsi:type="dcterms:W3CDTF">2016-02-19T00:40:14Z</dcterms:modified>
</cp:coreProperties>
</file>