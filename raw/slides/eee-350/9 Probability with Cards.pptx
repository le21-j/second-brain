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2"/>
  </p:notesMasterIdLst>
  <p:sldIdLst>
    <p:sldId id="258" r:id="rId5"/>
    <p:sldId id="257" r:id="rId6"/>
    <p:sldId id="262" r:id="rId7"/>
    <p:sldId id="259" r:id="rId8"/>
    <p:sldId id="260" r:id="rId9"/>
    <p:sldId id="261" r:id="rId10"/>
    <p:sldId id="263" r:id="rId11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14992-5EBB-4A04-BB95-5ADCBA49A81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54113"/>
            <a:ext cx="41560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45000"/>
            <a:ext cx="560705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772525"/>
            <a:ext cx="3038475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9BAD9-861C-47D5-AFC4-A7C93F150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1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04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4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0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49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5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2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14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1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4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6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65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063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194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972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680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855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180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326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7237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2244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823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7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3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2649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9485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77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004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03132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9761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830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653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138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9532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446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29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961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06394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5402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569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764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7134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5322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5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B4B52-3EFA-49EF-9EC4-94DF391C381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46CA7-D3CE-4763-8AB3-96AFE565C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1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06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3C989-E636-40E2-A05F-5D8B8F41AE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C1A40-4AEC-44E4-B283-C0965C54EA5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33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8646-2D0F-4EEA-9B85-BBED33539F6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DF860-3435-42D1-97AB-6EAF6F37227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20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800" dirty="0" smtClean="0">
                <a:solidFill>
                  <a:srgbClr val="FFC000"/>
                </a:solidFill>
                <a:latin typeface="Arial"/>
                <a:cs typeface="Arial"/>
                <a:sym typeface="Akzidenz-Grotesk Pro Bold" charset="0"/>
              </a:rPr>
              <a:t>Probabilities with cards</a:t>
            </a:r>
            <a:endParaRPr lang="en-US" sz="4800" dirty="0">
              <a:solidFill>
                <a:srgbClr val="FFC000"/>
              </a:solidFill>
              <a:latin typeface="Arial"/>
              <a:cs typeface="Arial"/>
              <a:sym typeface="Akzidenz-Grotesk Pro Bold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defRPr/>
            </a:pPr>
            <a:r>
              <a:rPr lang="en-US" dirty="0" smtClean="0">
                <a:latin typeface="Arial"/>
                <a:cs typeface="Arial"/>
                <a:sym typeface="Akzidenz-Grotesk Pro Regular" charset="0"/>
              </a:rPr>
              <a:t> </a:t>
            </a:r>
            <a:r>
              <a:rPr lang="en-US" sz="2400" dirty="0" smtClean="0">
                <a:latin typeface="Arial"/>
                <a:cs typeface="Arial"/>
                <a:sym typeface="Akzidenz-Grotesk Pro Regular" charset="0"/>
              </a:rPr>
              <a:t>Discrete uniform law</a:t>
            </a:r>
          </a:p>
          <a:p>
            <a:pPr marL="0" indent="0">
              <a:defRPr/>
            </a:pPr>
            <a:endParaRPr lang="en-US" sz="2400" dirty="0" smtClean="0">
              <a:latin typeface="Arial"/>
              <a:cs typeface="Arial"/>
              <a:sym typeface="Akzidenz-Grotesk Pro Regular" charset="0"/>
            </a:endParaRPr>
          </a:p>
          <a:p>
            <a:pPr marL="0" indent="0">
              <a:defRPr/>
            </a:pPr>
            <a:endParaRPr lang="en-US" dirty="0">
              <a:latin typeface="Arial"/>
              <a:cs typeface="Arial"/>
              <a:sym typeface="Akzidenz-Grotesk Pro Regular" charset="0"/>
            </a:endParaRPr>
          </a:p>
          <a:p>
            <a:pPr marL="0" indent="0">
              <a:defRPr/>
            </a:pPr>
            <a:endParaRPr lang="en-US" dirty="0" smtClean="0">
              <a:latin typeface="Arial"/>
              <a:cs typeface="Arial"/>
              <a:sym typeface="Akzidenz-Grotesk Pro Regular" charset="0"/>
            </a:endParaRPr>
          </a:p>
          <a:p>
            <a:pPr marL="0" indent="0">
              <a:defRPr/>
            </a:pPr>
            <a:endParaRPr lang="en-US" dirty="0">
              <a:latin typeface="Arial"/>
              <a:cs typeface="Arial"/>
              <a:sym typeface="Akzidenz-Grotesk Pro Regular" charset="0"/>
            </a:endParaRPr>
          </a:p>
          <a:p>
            <a:pPr marL="0" indent="0">
              <a:defRPr/>
            </a:pPr>
            <a:r>
              <a:rPr lang="en-US" sz="2400" b="1" dirty="0" smtClean="0">
                <a:latin typeface="Arial"/>
                <a:cs typeface="Arial"/>
                <a:sym typeface="Akzidenz-Grotesk Pro Regular" charset="0"/>
              </a:rPr>
              <a:t> </a:t>
            </a:r>
            <a:r>
              <a:rPr lang="en-US" sz="2400" dirty="0" smtClean="0">
                <a:latin typeface="Arial"/>
                <a:cs typeface="Arial"/>
                <a:sym typeface="Akzidenz-Grotesk Pro Regular" charset="0"/>
              </a:rPr>
              <a:t>Example:</a:t>
            </a:r>
            <a:r>
              <a:rPr lang="en-US" sz="2400" b="1" dirty="0" smtClean="0">
                <a:latin typeface="Arial"/>
                <a:cs typeface="Arial"/>
                <a:sym typeface="Akzidenz-Grotesk Pro Regular" charset="0"/>
              </a:rPr>
              <a:t> </a:t>
            </a:r>
            <a:r>
              <a:rPr lang="en-US" dirty="0" smtClean="0">
                <a:latin typeface="Arial"/>
                <a:cs typeface="Arial"/>
                <a:sym typeface="Akzidenz-Grotesk Pro Regular" charset="0"/>
              </a:rPr>
              <a:t>Probability of drawing an ace</a:t>
            </a:r>
            <a:endParaRPr lang="en-US" sz="2400" b="1" dirty="0" smtClean="0">
              <a:latin typeface="Arial"/>
              <a:cs typeface="Arial"/>
              <a:sym typeface="Akzidenz-Grotesk Pro Regular" charset="0"/>
            </a:endParaRPr>
          </a:p>
          <a:p>
            <a:pPr marL="457200" lvl="1" indent="0">
              <a:buNone/>
              <a:defRPr/>
            </a:pPr>
            <a:endParaRPr lang="en-US" dirty="0" smtClean="0">
              <a:latin typeface="Arial"/>
              <a:cs typeface="Arial"/>
              <a:sym typeface="Akzidenz-Grotesk Pro Regular" charset="0"/>
            </a:endParaRPr>
          </a:p>
          <a:p>
            <a:pPr marL="457200" lvl="1" indent="0">
              <a:buNone/>
              <a:defRPr/>
            </a:pPr>
            <a:endParaRPr lang="en-US" dirty="0" smtClean="0">
              <a:latin typeface="Arial"/>
              <a:cs typeface="Arial"/>
              <a:sym typeface="Akzidenz-Grotesk Pro Regular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643" y="2808401"/>
            <a:ext cx="4260190" cy="4334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00" y="5015916"/>
            <a:ext cx="2208276" cy="3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4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Splitting Deck into 4; one Ace Each</a:t>
            </a:r>
            <a:endParaRPr lang="en-US" sz="36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13444"/>
            <a:ext cx="4895496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460590"/>
            <a:ext cx="309386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48603" y="601980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10.5%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2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of a kind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hand in poker</a:t>
            </a:r>
          </a:p>
          <a:p>
            <a:endParaRPr lang="en-US" dirty="0" smtClean="0"/>
          </a:p>
          <a:p>
            <a:r>
              <a:rPr lang="en-US" dirty="0" smtClean="0"/>
              <a:t>Four cards of same rank and something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02" y="3630270"/>
            <a:ext cx="3876665" cy="98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2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 House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cards of same rank + two other cards of same rank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84" y="2698522"/>
            <a:ext cx="3888475" cy="9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Pair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Pair of cards of same rank + other pair of cards of same rank + something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49" y="3352800"/>
            <a:ext cx="4411952" cy="104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4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Power Point Lecture Slides for the Textbook </a:t>
            </a:r>
            <a:r>
              <a:rPr lang="en-US" sz="2000" dirty="0" smtClean="0">
                <a:solidFill>
                  <a:prstClr val="black"/>
                </a:solidFill>
              </a:rPr>
              <a:t>http</a:t>
            </a:r>
            <a:r>
              <a:rPr lang="en-US" sz="2000" dirty="0">
                <a:solidFill>
                  <a:prstClr val="black"/>
                </a:solidFill>
              </a:rPr>
              <a:t>://</a:t>
            </a:r>
            <a:r>
              <a:rPr lang="en-US" sz="2000" dirty="0" smtClean="0">
                <a:solidFill>
                  <a:prstClr val="black"/>
                </a:solidFill>
              </a:rPr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John </a:t>
            </a:r>
            <a:r>
              <a:rPr lang="en-US" sz="2000" dirty="0" err="1">
                <a:solidFill>
                  <a:prstClr val="black"/>
                </a:solidFill>
              </a:rPr>
              <a:t>Tsitsiklis</a:t>
            </a:r>
            <a:r>
              <a:rPr lang="en-US" sz="2000" dirty="0">
                <a:solidFill>
                  <a:prstClr val="black"/>
                </a:solidFill>
              </a:rPr>
              <a:t>. </a:t>
            </a:r>
            <a:r>
              <a:rPr lang="en-US" sz="2000" i="1" dirty="0">
                <a:solidFill>
                  <a:prstClr val="black"/>
                </a:solidFill>
              </a:rPr>
              <a:t>6.041 Probabilistic Systems Analysis and Applied Probability, Fall 2010</a:t>
            </a:r>
            <a:r>
              <a:rPr lang="en-US" sz="2000" dirty="0">
                <a:solidFill>
                  <a:prstClr val="black"/>
                </a:solidFill>
              </a:rPr>
              <a:t>. (Massachusetts Institute of Technology: </a:t>
            </a:r>
            <a:r>
              <a:rPr lang="en-US" sz="2000" dirty="0" smtClean="0">
                <a:solidFill>
                  <a:prstClr val="black"/>
                </a:solidFill>
              </a:rPr>
              <a:t>MIT </a:t>
            </a:r>
            <a:r>
              <a:rPr lang="en-US" sz="2000" dirty="0" err="1" smtClean="0">
                <a:solidFill>
                  <a:prstClr val="black"/>
                </a:solidFill>
              </a:rPr>
              <a:t>OpenCourseWare</a:t>
            </a:r>
            <a:r>
              <a:rPr lang="en-US" sz="2000" dirty="0">
                <a:solidFill>
                  <a:prstClr val="black"/>
                </a:solidFill>
              </a:rPr>
              <a:t>),</a:t>
            </a:r>
            <a:r>
              <a:rPr lang="en-US" sz="2000" dirty="0">
                <a:solidFill>
                  <a:prstClr val="black"/>
                </a:solidFill>
                <a:hlinkClick r:id="rId3"/>
              </a:rPr>
              <a:t>http://ocw.mit.edu</a:t>
            </a:r>
            <a:r>
              <a:rPr lang="en-US" sz="2000" dirty="0">
                <a:solidFill>
                  <a:prstClr val="black"/>
                </a:solidFill>
              </a:rPr>
              <a:t> (Accessed 13 Apr, 2015). License: </a:t>
            </a:r>
            <a:r>
              <a:rPr lang="en-US" sz="2000" dirty="0">
                <a:solidFill>
                  <a:prstClr val="black"/>
                </a:solidFill>
                <a:hlinkClick r:id="rId4"/>
              </a:rPr>
              <a:t>Creative Commons </a:t>
            </a:r>
            <a:r>
              <a:rPr lang="en-US" sz="2000" dirty="0" smtClean="0">
                <a:solidFill>
                  <a:prstClr val="black"/>
                </a:solidFill>
                <a:hlinkClick r:id="rId4"/>
              </a:rPr>
              <a:t>BY-NC-SA</a:t>
            </a: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81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7.75"/>
  <p:tag name="ORIGINALWIDTH" val="2329.5"/>
  <p:tag name="LATEXADDIN" val="\documentclass{article}&#10;\usepackage{amsmath}&#10;\pagestyle{empty}&#10;\begin{document}&#10;&#10;&#10;$\text{Probability}=\frac{\text{Number of ways to get desired case}}{\text{Number of total ways}}$&#10;&#10;\end{document}"/>
  <p:tag name="IGUANATEXSIZE" val="24"/>
  <p:tag name="IGUANATEXCURSOR" val="173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"/>
  <p:tag name="ORIGINALWIDTH" val="1207.5"/>
  <p:tag name="LATEXADDIN" val="\documentclass{article}&#10;\usepackage{amsmath}&#10;\pagestyle{empty}&#10;\begin{document}&#10;&#10;$\text{Probability}=\frac{4}{52}$ $= \hspace{0.5mm} \frac{1}{13}$ &#10;&#10;\end{document}"/>
  <p:tag name="IGUANATEXSIZE" val="24"/>
  <p:tag name="IGUANATEXCURSOR" val="100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"/>
  <p:tag name="ORIGINALWIDTH" val="1851.75"/>
  <p:tag name="LATEXADDIN" val="\documentclass{article}&#10;\usepackage{amsmath}&#10;\pagestyle{empty}&#10;\begin{document}&#10;&#10;$\text{Probability}=\frac{\binom{13}{1} \binom{12}{1} \binom{4}{1}}{\binom{52}{5}} = 0.024\%$ &#10;&#10;\end{document}"/>
  <p:tag name="IGUANATEXSIZE" val="24"/>
  <p:tag name="IGUANATEXCURSOR" val="100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"/>
  <p:tag name="ORIGINALWIDTH" val="1990.5"/>
  <p:tag name="LATEXADDIN" val="\documentclass{article}&#10;\usepackage{amsmath}&#10;\pagestyle{empty}&#10;\begin{document}&#10;&#10;&#10;$\text{Probability}=\frac{\binom{13}{1} \binom{4}{3} \binom{12}{1} \binom{4}{2}}{\binom{52}{5}} = 0.144\%$ &#10;&#10;&#10;&#10;\end{document}"/>
  <p:tag name="IGUANATEXSIZE" val="24"/>
  <p:tag name="IGUANATEXCURSOR" val="101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4"/>
  <p:tag name="ORIGINALWIDTH" val="2130"/>
  <p:tag name="LATEXADDIN" val="\documentclass{article}&#10;\usepackage{amsmath}&#10;\usepackage{graphicx}&#10;\pagestyle{empty}&#10;\begin{document}&#10;&#10;$\text{Probability}=\frac{\binom{13}{2} \binom{4}{2} \binom{4}{2} \binom{11}{1} \binom{4}{1} }{\binom{52}{5}} = 4.753\%$ &#10;&#10;\end{document}"/>
  <p:tag name="IGUANATEXSIZE" val="24"/>
  <p:tag name="IGUANATEXCURSOR" val="123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103</Words>
  <Application>Microsoft Office PowerPoint</Application>
  <PresentationFormat>On-screen Show (4:3)</PresentationFormat>
  <Paragraphs>24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MS PGothic</vt:lpstr>
      <vt:lpstr>Akzidenz-Grotesk Pro Bold</vt:lpstr>
      <vt:lpstr>Akzidenz-Grotesk Pro Regular</vt:lpstr>
      <vt:lpstr>Arial</vt:lpstr>
      <vt:lpstr>Calibri</vt:lpstr>
      <vt:lpstr>Calibri Light</vt:lpstr>
      <vt:lpstr>Office Theme</vt:lpstr>
      <vt:lpstr>1_Office Theme</vt:lpstr>
      <vt:lpstr>2_Office Theme</vt:lpstr>
      <vt:lpstr>3_Office Theme</vt:lpstr>
      <vt:lpstr>Probabilities with cards</vt:lpstr>
      <vt:lpstr>Splitting Deck into 4; one Ace Each</vt:lpstr>
      <vt:lpstr>PowerPoint Presentation</vt:lpstr>
      <vt:lpstr>Four of a kind</vt:lpstr>
      <vt:lpstr>Full House</vt:lpstr>
      <vt:lpstr>Two Pair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Partitions</dc:title>
  <dc:creator>Cihan Tepedelenlioglu</dc:creator>
  <cp:lastModifiedBy>Abhilash Sureshbabu</cp:lastModifiedBy>
  <cp:revision>8</cp:revision>
  <cp:lastPrinted>2015-08-25T18:29:14Z</cp:lastPrinted>
  <dcterms:created xsi:type="dcterms:W3CDTF">2015-06-06T00:26:37Z</dcterms:created>
  <dcterms:modified xsi:type="dcterms:W3CDTF">2016-02-19T00:08:22Z</dcterms:modified>
</cp:coreProperties>
</file>