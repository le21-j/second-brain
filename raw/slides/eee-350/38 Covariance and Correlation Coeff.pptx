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9"/>
  </p:notesMasterIdLst>
  <p:sldIdLst>
    <p:sldId id="257" r:id="rId5"/>
    <p:sldId id="258" r:id="rId6"/>
    <p:sldId id="259" r:id="rId7"/>
    <p:sldId id="271" r:id="rId8"/>
    <p:sldId id="272" r:id="rId9"/>
    <p:sldId id="260" r:id="rId10"/>
    <p:sldId id="261" r:id="rId11"/>
    <p:sldId id="262" r:id="rId12"/>
    <p:sldId id="263" r:id="rId13"/>
    <p:sldId id="269" r:id="rId14"/>
    <p:sldId id="264" r:id="rId15"/>
    <p:sldId id="265" r:id="rId16"/>
    <p:sldId id="266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65CDE-C6AB-4E59-8C15-ADEE862942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69853-98BE-4C8F-BE73-F94DFB072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5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137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3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04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0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66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7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5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02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4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2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7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6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480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196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912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876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288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907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137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117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479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9104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398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0182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7510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8811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012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8368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443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5179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1469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558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0363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9745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775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9450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5872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8747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643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902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21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9435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3177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7205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70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2C755-07A5-4F4A-A7F9-9765660D4DA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E8555-795C-41E0-BC74-ADE390023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5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5B0C4-47AC-40D7-8F1F-AE05DAE7F30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F6143-1CB3-47EA-962C-CB902DF056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54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377DF-DF87-49A8-A1EF-722A2BF59E5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12FCE-201D-4442-9ED8-FBF73F62B08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83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E0D7A-C608-40FB-8979-BA4500AFAC9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DDD4C-11AF-4ADF-92F1-2AA09D3406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85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7.xml"/><Relationship Id="rId7" Type="http://schemas.openxmlformats.org/officeDocument/2006/relationships/image" Target="../media/image2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29.png"/><Relationship Id="rId5" Type="http://schemas.openxmlformats.org/officeDocument/2006/relationships/tags" Target="../tags/tag9.xml"/><Relationship Id="rId10" Type="http://schemas.openxmlformats.org/officeDocument/2006/relationships/image" Target="../media/image28.png"/><Relationship Id="rId4" Type="http://schemas.openxmlformats.org/officeDocument/2006/relationships/tags" Target="../tags/tag8.xml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Covariance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48169"/>
            <a:ext cx="42481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8839" y="3581400"/>
            <a:ext cx="59394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Can be computed if joint PDF is given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Measures if RVs are “related” in some 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Also comes out naturally from variance of a 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Can be normalized with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(corr.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oeff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48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Covariance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14607"/>
            <a:ext cx="8197224" cy="3495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7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Covariance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" y="2074074"/>
            <a:ext cx="5334000" cy="629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" y="3300969"/>
            <a:ext cx="5181600" cy="37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0" y="4005956"/>
            <a:ext cx="5674670" cy="2195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4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Variance of a Sum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4" y="1950166"/>
            <a:ext cx="1121969" cy="2322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4" y="5628907"/>
            <a:ext cx="4029761" cy="30358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5" y="2767241"/>
            <a:ext cx="6162815" cy="197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6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Variance of </a:t>
            </a:r>
            <a:r>
              <a:rPr lang="en-US" smtClean="0"/>
              <a:t>a Sum </a:t>
            </a:r>
            <a:r>
              <a:rPr lang="en-US" dirty="0" err="1" smtClean="0"/>
              <a:t>Cont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the covariance is positive</a:t>
            </a:r>
          </a:p>
          <a:p>
            <a:endParaRPr lang="en-US" dirty="0"/>
          </a:p>
          <a:p>
            <a:r>
              <a:rPr lang="en-US" dirty="0" smtClean="0"/>
              <a:t>If the covariance is negative</a:t>
            </a:r>
          </a:p>
          <a:p>
            <a:endParaRPr lang="en-US" dirty="0"/>
          </a:p>
          <a:p>
            <a:r>
              <a:rPr lang="en-US" dirty="0" smtClean="0"/>
              <a:t>If the covariance is zero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20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Correlation Coefficient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4" y="1803400"/>
            <a:ext cx="3649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Dimensionless and normalized</a:t>
            </a:r>
            <a:endParaRPr lang="en-US" sz="2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709" y="2492087"/>
            <a:ext cx="4114800" cy="7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559978"/>
            <a:ext cx="1752600" cy="680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018" y="3810003"/>
            <a:ext cx="4567382" cy="2064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9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Correlation Coefficient Practical Examples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9" y="2438400"/>
            <a:ext cx="878166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7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For Independent RVs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87" y="2209800"/>
            <a:ext cx="38862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88" y="2895600"/>
            <a:ext cx="271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124" y="3658763"/>
            <a:ext cx="37433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7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Covariance Between Gaussians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2065853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Consider: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8" y="2082763"/>
            <a:ext cx="35147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2" y="2599260"/>
            <a:ext cx="33623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819098" y="3056453"/>
            <a:ext cx="4887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smtClean="0"/>
              <a:t>X</a:t>
            </a:r>
            <a:r>
              <a:rPr lang="en-US" dirty="0" smtClean="0"/>
              <a:t> and </a:t>
            </a:r>
            <a:r>
              <a:rPr lang="en-US" i="1" dirty="0"/>
              <a:t>Z</a:t>
            </a:r>
            <a:r>
              <a:rPr lang="en-US" dirty="0" smtClean="0"/>
              <a:t> are independent. Find                where   </a:t>
            </a:r>
            <a:endParaRPr lang="en-US" dirty="0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185" y="3031014"/>
            <a:ext cx="7334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808" y="3153315"/>
            <a:ext cx="1254252" cy="193548"/>
          </a:xfrm>
          <a:prstGeom prst="rect">
            <a:avLst/>
          </a:prstGeom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99" y="3810004"/>
            <a:ext cx="30099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072" y="4876808"/>
            <a:ext cx="421005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8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24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032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Bivariate Gaussians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3" y="2209802"/>
            <a:ext cx="905827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3401" y="5334000"/>
            <a:ext cx="63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Fact: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791200"/>
            <a:ext cx="798195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9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Bivariate Gaussians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" y="1972236"/>
            <a:ext cx="9124751" cy="475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2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Calculating              from joint pdf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US" dirty="0" smtClean="0"/>
              <a:t>Find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Find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Find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  </a:t>
            </a:r>
          </a:p>
          <a:p>
            <a:pPr>
              <a:lnSpc>
                <a:spcPct val="250000"/>
              </a:lnSpc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65" y="2257276"/>
            <a:ext cx="3786987" cy="3657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1" y="3304031"/>
            <a:ext cx="3674516" cy="3657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639" y="4420886"/>
            <a:ext cx="700888" cy="3017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87" y="5446756"/>
            <a:ext cx="3434487" cy="3017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104" y="521563"/>
            <a:ext cx="1591741" cy="48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6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Power Point Lecture Slides for the Textbook </a:t>
            </a:r>
            <a:r>
              <a:rPr lang="en-US" sz="2000" dirty="0" smtClean="0">
                <a:solidFill>
                  <a:prstClr val="black"/>
                </a:solidFill>
              </a:rPr>
              <a:t>http</a:t>
            </a:r>
            <a:r>
              <a:rPr lang="en-US" sz="2000" dirty="0">
                <a:solidFill>
                  <a:prstClr val="black"/>
                </a:solidFill>
              </a:rPr>
              <a:t>://</a:t>
            </a:r>
            <a:r>
              <a:rPr lang="en-US" sz="2000" dirty="0" smtClean="0">
                <a:solidFill>
                  <a:prstClr val="black"/>
                </a:solidFill>
              </a:rPr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John </a:t>
            </a:r>
            <a:r>
              <a:rPr lang="en-US" sz="2000" dirty="0" err="1">
                <a:solidFill>
                  <a:prstClr val="black"/>
                </a:solidFill>
              </a:rPr>
              <a:t>Tsitsiklis</a:t>
            </a:r>
            <a:r>
              <a:rPr lang="en-US" sz="2000" dirty="0">
                <a:solidFill>
                  <a:prstClr val="black"/>
                </a:solidFill>
              </a:rPr>
              <a:t>. </a:t>
            </a:r>
            <a:r>
              <a:rPr lang="en-US" sz="2000" i="1" dirty="0">
                <a:solidFill>
                  <a:prstClr val="black"/>
                </a:solidFill>
              </a:rPr>
              <a:t>6.041 Probabilistic Systems Analysis and Applied Probability, Fall 2010</a:t>
            </a:r>
            <a:r>
              <a:rPr lang="en-US" sz="2000" dirty="0">
                <a:solidFill>
                  <a:prstClr val="black"/>
                </a:solidFill>
              </a:rPr>
              <a:t>. (Massachusetts Institute of Technology: </a:t>
            </a:r>
            <a:r>
              <a:rPr lang="en-US" sz="2000" dirty="0" smtClean="0">
                <a:solidFill>
                  <a:prstClr val="black"/>
                </a:solidFill>
              </a:rPr>
              <a:t>MIT </a:t>
            </a:r>
            <a:r>
              <a:rPr lang="en-US" sz="2000" dirty="0" err="1" smtClean="0">
                <a:solidFill>
                  <a:prstClr val="black"/>
                </a:solidFill>
              </a:rPr>
              <a:t>OpenCourseWare</a:t>
            </a:r>
            <a:r>
              <a:rPr lang="en-US" sz="2000" dirty="0">
                <a:solidFill>
                  <a:prstClr val="black"/>
                </a:solidFill>
              </a:rPr>
              <a:t>),</a:t>
            </a:r>
            <a:r>
              <a:rPr lang="en-US" sz="2000" dirty="0">
                <a:solidFill>
                  <a:prstClr val="black"/>
                </a:solidFill>
                <a:hlinkClick r:id="rId3"/>
              </a:rPr>
              <a:t>http://ocw.mit.edu</a:t>
            </a:r>
            <a:r>
              <a:rPr lang="en-US" sz="2000" dirty="0">
                <a:solidFill>
                  <a:prstClr val="black"/>
                </a:solidFill>
              </a:rPr>
              <a:t> (Accessed 13 Apr, 2015). License: </a:t>
            </a:r>
            <a:r>
              <a:rPr lang="en-US" sz="2000" dirty="0">
                <a:solidFill>
                  <a:prstClr val="black"/>
                </a:solidFill>
                <a:hlinkClick r:id="rId4"/>
              </a:rPr>
              <a:t>Creative Commons </a:t>
            </a:r>
            <a:r>
              <a:rPr lang="en-US" sz="2000" dirty="0" smtClean="0">
                <a:solidFill>
                  <a:prstClr val="black"/>
                </a:solidFill>
                <a:hlinkClick r:id="rId4"/>
              </a:rPr>
              <a:t>BY-NC-SA</a:t>
            </a: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10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5.25"/>
  <p:tag name="ORIGINALWIDTH" val="613.5"/>
  <p:tag name="LATEXADDIN" val="\documentclass{article}&#10;\usepackage{amsmath}&#10;\pagestyle{empty}&#10;\begin{document}&#10;&#10;$Z = X + Y$&#10;\end{document}"/>
  <p:tag name="IGUANATEXSIZE" val="24"/>
  <p:tag name="IGUANATEXCURSOR" val="91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2203.5"/>
  <p:tag name="LATEXADDIN" val="\documentclass{article}&#10;\usepackage{amsmath}&#10;\pagestyle{empty}&#10;\begin{document}&#10;&#10;$\mathrm{Cov}\left[X,Y\right]=E\left[(X-E\left[X\right])(Y-E\left[Y\right])\right]$&#10;\end{document}"/>
  <p:tag name="IGUANATEXSIZE" val="24"/>
  <p:tag name="IGUANATEXCURSOR" val="94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3.4629"/>
  <p:tag name="ORIGINALWIDTH" val="720.0347"/>
  <p:tag name="LATEXADDIN" val="\documentclass{article}&#10;\usepackage{amsmath}&#10;\pagestyle{empty}&#10;\begin{document}&#10;&#10;$\begin{aligned}&#10;               \mathrm{Var}\left[Z\right]&amp;=E\left[Z^2\right]-(E\left[Z\right])^2 \\&#10;                       &amp;= E\left[(X+Y)^2\right]-(E\left[(X+Y)\right])^2 \\&#10;                       &amp;= E\left[(X+Y)^2\right]-(E\left[X\right]+E\left[Y\right])^2 \\&#10;                       &amp;=E\left[(X^2+Y^2+2XY)\right]-((E\left[X\right])^2+(E\left[Y\right])^2+2E\left[X\right]E\left[Y\right])\\&#10;                       &amp;=\mathrm{Var}\left[X\right]+\mathrm{Var}\left[Y\right]+2\mathrm{Cov}\left[X,Y\right]&#10;  \end{aligned}$&#10;&#10;\end{document}"/>
  <p:tag name="IGUANATEXSIZE" val="24"/>
  <p:tag name="IGUANATEXCURSOR" val="43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5.25"/>
  <p:tag name="ORIGINALWIDTH" val="617.25"/>
  <p:tag name="LATEXADDIN" val="\documentclass{article}&#10;\usepackage{amsmath}&#10;\pagestyle{empty}&#10;\begin{document}&#10;$Y=X+Z$&#10;\end{document}"/>
  <p:tag name="IGUANATEXSIZE" val="20"/>
  <p:tag name="IGUANATEXCURSOR" val="8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0"/>
  <p:tag name="ORIGINALWIDTH" val="2070.75"/>
  <p:tag name="LATEXADDIN" val="\documentclass{article}&#10;\usepackage{amsmath}&#10;\pagestyle{empty}&#10;\begin{document}&#10;&#10;$f_X(x), E\left[X\right],\sigma_X^2=E\left[X^2\right]-(E\left[X\right])^2$&#10;\end{document}"/>
  <p:tag name="IGUANATEXSIZE" val="24"/>
  <p:tag name="IGUANATEXCURSOR" val="151"/>
  <p:tag name="TRANSPARENCY" val="True"/>
  <p:tag name="FILENAME" val=""/>
  <p:tag name="INPUTTYPE" val="0"/>
  <p:tag name="LATEXENGINEID" val="0"/>
  <p:tag name="TEMPFOLDER" val="C:\Users\Abhilash S\Documents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0"/>
  <p:tag name="ORIGINALWIDTH" val="2009.25"/>
  <p:tag name="LATEXADDIN" val="\documentclass{article}&#10;\usepackage{amsmath}&#10;\pagestyle{empty}&#10;\begin{document}&#10;&#10;$f_Y(y), E\left[Y\right],\sigma_Y^2=E\left[Y^2\right]-(E\left[Y\right])^2$&#10;\end{document}"/>
  <p:tag name="IGUANATEXSIZE" val="24"/>
  <p:tag name="IGUANATEXCURSOR" val="85"/>
  <p:tag name="TRANSPARENCY" val="True"/>
  <p:tag name="FILENAME" val=""/>
  <p:tag name="INPUTTYPE" val="0"/>
  <p:tag name="LATEXENGINEID" val="0"/>
  <p:tag name="TEMPFOLDER" val="C:\Users\Abhilash S\Documents\te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383.25"/>
  <p:tag name="LATEXADDIN" val="\documentclass{article}&#10;\usepackage{amsmath}&#10;\pagestyle{empty}&#10;\begin{document}&#10;&#10;$E\left[XY\right]$&#10;\end{document}"/>
  <p:tag name="IGUANATEXSIZE" val="24"/>
  <p:tag name="IGUANATEXCURSOR" val="98"/>
  <p:tag name="TRANSPARENCY" val="True"/>
  <p:tag name="FILENAME" val=""/>
  <p:tag name="INPUTTYPE" val="0"/>
  <p:tag name="LATEXENGINEID" val="0"/>
  <p:tag name="TEMPFOLDER" val="C:\Users\Abhilash S\Documents\te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1878"/>
  <p:tag name="LATEXADDIN" val="\documentclass{article}&#10;\usepackage{amsmath}&#10;\pagestyle{empty}&#10;\begin{document}&#10;&#10;$\mathrm{Cov}\left[X,Y\right]=E\left[XY\right]-E\left[X\right]E\left[Y\right]$&#10;\end{document}"/>
  <p:tag name="IGUANATEXSIZE" val="24"/>
  <p:tag name="IGUANATEXCURSOR" val="81"/>
  <p:tag name="TRANSPARENCY" val="True"/>
  <p:tag name="FILENAME" val=""/>
  <p:tag name="INPUTTYPE" val="0"/>
  <p:tag name="LATEXENGINEID" val="0"/>
  <p:tag name="TEMPFOLDER" val="C:\Users\Abhilash S\Documents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546.75"/>
  <p:tag name="LATEXADDIN" val="\documentclass{article}&#10;\usepackage{amsmath}&#10;\usepackage{color}&#10;\pagestyle{empty}&#10;\definecolor{pastelorange}{rgb}{1.0, 0.702, 0.063}&#10;\begin{document}&#10;&#10;$\textcolor{pastelorange}{\mathrm{Cov}\left[X,Y\right]}$&#10;\end{document}"/>
  <p:tag name="IGUANATEXSIZE" val="48"/>
  <p:tag name="IGUANATEXCURSOR" val="177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144</Words>
  <Application>Microsoft Office PowerPoint</Application>
  <PresentationFormat>On-screen Show (4:3)</PresentationFormat>
  <Paragraphs>44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MS PGothic</vt:lpstr>
      <vt:lpstr>Akzidenz-Grotesk Pro Bold</vt:lpstr>
      <vt:lpstr>Arial</vt:lpstr>
      <vt:lpstr>Calibri</vt:lpstr>
      <vt:lpstr>Office Theme</vt:lpstr>
      <vt:lpstr>1_Office Theme</vt:lpstr>
      <vt:lpstr>2_Office Theme</vt:lpstr>
      <vt:lpstr>3_Office Theme</vt:lpstr>
      <vt:lpstr>Covariance</vt:lpstr>
      <vt:lpstr>Covariance</vt:lpstr>
      <vt:lpstr>Covariance Cont’</vt:lpstr>
      <vt:lpstr>Variance of a Sum</vt:lpstr>
      <vt:lpstr>Variance of a Sum Cont’</vt:lpstr>
      <vt:lpstr>Correlation Coefficient</vt:lpstr>
      <vt:lpstr>Correlation Coefficient Practical Examples</vt:lpstr>
      <vt:lpstr>For Independent RVs</vt:lpstr>
      <vt:lpstr>Covariance Between Gaussians</vt:lpstr>
      <vt:lpstr>PowerPoint Presentation</vt:lpstr>
      <vt:lpstr>Bivariate Gaussians</vt:lpstr>
      <vt:lpstr>Bivariate Gaussians</vt:lpstr>
      <vt:lpstr>Calculating              from joint pdf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12</cp:revision>
  <dcterms:created xsi:type="dcterms:W3CDTF">2015-06-06T00:50:19Z</dcterms:created>
  <dcterms:modified xsi:type="dcterms:W3CDTF">2016-02-19T00:36:01Z</dcterms:modified>
</cp:coreProperties>
</file>