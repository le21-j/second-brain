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1"/>
  </p:notesMasterIdLst>
  <p:sldIdLst>
    <p:sldId id="257" r:id="rId4"/>
    <p:sldId id="269" r:id="rId5"/>
    <p:sldId id="258" r:id="rId6"/>
    <p:sldId id="268" r:id="rId7"/>
    <p:sldId id="259" r:id="rId8"/>
    <p:sldId id="260" r:id="rId9"/>
    <p:sldId id="270" r:id="rId10"/>
    <p:sldId id="261" r:id="rId11"/>
    <p:sldId id="271" r:id="rId12"/>
    <p:sldId id="272" r:id="rId13"/>
    <p:sldId id="266" r:id="rId14"/>
    <p:sldId id="262" r:id="rId15"/>
    <p:sldId id="263" r:id="rId16"/>
    <p:sldId id="264" r:id="rId17"/>
    <p:sldId id="265" r:id="rId18"/>
    <p:sldId id="267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84" y="-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1E910-C148-40CA-AC28-36626C7A0C1C}" type="datetimeFigureOut">
              <a:rPr lang="en-US" smtClean="0"/>
              <a:t>2/25/2016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3B6FD3-6030-4649-85DB-13A01E99C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32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925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165-ED8C-4B26-87FC-E4D99622D3CB}" type="datetimeFigureOut">
              <a:rPr lang="en-US" smtClean="0"/>
              <a:t>2/25/2016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0BC-9B63-4EC9-B0D4-2B3118555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4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165-ED8C-4B26-87FC-E4D99622D3CB}" type="datetimeFigureOut">
              <a:rPr lang="en-US" smtClean="0"/>
              <a:t>2/25/2016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0BC-9B63-4EC9-B0D4-2B3118555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12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165-ED8C-4B26-87FC-E4D99622D3CB}" type="datetimeFigureOut">
              <a:rPr lang="en-US" smtClean="0"/>
              <a:t>2/25/2016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0BC-9B63-4EC9-B0D4-2B3118555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57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165-ED8C-4B26-87FC-E4D99622D3CB}" type="datetimeFigureOut">
              <a:rPr lang="en-US" smtClean="0"/>
              <a:t>2/25/2016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0BC-9B63-4EC9-B0D4-2B3118555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92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165-ED8C-4B26-87FC-E4D99622D3CB}" type="datetimeFigureOut">
              <a:rPr lang="en-US" smtClean="0"/>
              <a:t>2/25/2016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0BC-9B63-4EC9-B0D4-2B3118555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71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165-ED8C-4B26-87FC-E4D99622D3CB}" type="datetimeFigureOut">
              <a:rPr lang="en-US" smtClean="0"/>
              <a:t>2/25/2016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0BC-9B63-4EC9-B0D4-2B3118555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15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165-ED8C-4B26-87FC-E4D99622D3CB}" type="datetimeFigureOut">
              <a:rPr lang="en-US" smtClean="0"/>
              <a:t>2/25/2016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0BC-9B63-4EC9-B0D4-2B3118555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165-ED8C-4B26-87FC-E4D99622D3CB}" type="datetimeFigureOut">
              <a:rPr lang="en-US" smtClean="0"/>
              <a:t>2/25/2016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0BC-9B63-4EC9-B0D4-2B3118555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40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165-ED8C-4B26-87FC-E4D99622D3CB}" type="datetimeFigureOut">
              <a:rPr lang="en-US" smtClean="0"/>
              <a:t>2/25/2016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0BC-9B63-4EC9-B0D4-2B3118555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7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165-ED8C-4B26-87FC-E4D99622D3CB}" type="datetimeFigureOut">
              <a:rPr lang="en-US" smtClean="0"/>
              <a:t>2/25/2016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0BC-9B63-4EC9-B0D4-2B3118555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7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3C165-ED8C-4B26-87FC-E4D99622D3CB}" type="datetimeFigureOut">
              <a:rPr lang="en-US" smtClean="0"/>
              <a:t>2/25/2016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BB0BC-9B63-4EC9-B0D4-2B3118555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05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0"/>
            <a:ext cx="6858000" cy="1007226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198145"/>
            <a:ext cx="6858000" cy="4913897"/>
          </a:xfrm>
        </p:spPr>
        <p:txBody>
          <a:bodyPr/>
          <a:lstStyle>
            <a:lvl1pPr marL="342900" indent="-342900" algn="l"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002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199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872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889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794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477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4950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046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1671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3888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7061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0"/>
            <a:ext cx="6858000" cy="1007226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198145"/>
            <a:ext cx="6858000" cy="4913897"/>
          </a:xfrm>
        </p:spPr>
        <p:txBody>
          <a:bodyPr/>
          <a:lstStyle>
            <a:lvl1pPr marL="342900" indent="-342900" algn="l"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0588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6182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1218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0133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8402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6074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8904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0273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2298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3907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43AF-56AF-476C-8127-1E36D80C146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6306-94AF-4FDD-A05C-A3B778A081DD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01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3C165-ED8C-4B26-87FC-E4D99622D3CB}" type="datetimeFigureOut">
              <a:rPr lang="en-US" smtClean="0"/>
              <a:t>2/25/2016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BB0BC-9B63-4EC9-B0D4-2B3118555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5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643AF-56AF-476C-8127-1E36D80C146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26306-94AF-4FDD-A05C-A3B778A081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769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643AF-56AF-476C-8127-1E36D80C146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2/25/2016</a:t>
            </a:fld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26306-94AF-4FDD-A05C-A3B778A081D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smtClean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31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5.xml"/><Relationship Id="rId7" Type="http://schemas.openxmlformats.org/officeDocument/2006/relationships/image" Target="../media/image23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23.xml"/><Relationship Id="rId11" Type="http://schemas.openxmlformats.org/officeDocument/2006/relationships/image" Target="../media/image27.png"/><Relationship Id="rId5" Type="http://schemas.openxmlformats.org/officeDocument/2006/relationships/tags" Target="../tags/tag7.xml"/><Relationship Id="rId10" Type="http://schemas.openxmlformats.org/officeDocument/2006/relationships/image" Target="../media/image26.png"/><Relationship Id="rId4" Type="http://schemas.openxmlformats.org/officeDocument/2006/relationships/tags" Target="../tags/tag6.xml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Conditional Expectation</a:t>
            </a:r>
            <a:endParaRPr lang="en-US" sz="36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8800"/>
            <a:ext cx="455748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49255"/>
            <a:ext cx="507616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7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Conditional Expectation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749275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Conditional expectation of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given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is a random variable!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Indeed, it is a function of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are independent, it is a constant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Can be interpreted as an “estimator” of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given observation </a:t>
            </a:r>
            <a:r>
              <a:rPr lang="en-US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This RV has a mean and variance (we will see more on this)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89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Gaussian Case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38960"/>
            <a:ext cx="741997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011561"/>
            <a:ext cx="461962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" y="5029200"/>
            <a:ext cx="603885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108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2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Gaussian Case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56472"/>
            <a:ext cx="47244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03" y="4191000"/>
            <a:ext cx="8715375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421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Iterated Expectations</a:t>
            </a:r>
            <a:endParaRPr lang="en-US" sz="36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55" y="2057400"/>
            <a:ext cx="5857875" cy="847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55" y="3751262"/>
            <a:ext cx="27717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667" y="4724400"/>
            <a:ext cx="51149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Iterated Expectations Gaussian Example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62200"/>
            <a:ext cx="603885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66800" y="4191000"/>
            <a:ext cx="65437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What is the conditional expectation random variable?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What is the mean of this random variable?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46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Conditional Variance</a:t>
            </a:r>
            <a:endParaRPr lang="en-US" sz="3600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89272"/>
            <a:ext cx="5638800" cy="1063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272576"/>
            <a:ext cx="2971800" cy="367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86200"/>
            <a:ext cx="54673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6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Stick Example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2057400"/>
            <a:ext cx="65437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What is the conditional variance random variable?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What is the conditional expectation random variable?</a:t>
            </a:r>
          </a:p>
        </p:txBody>
      </p:sp>
    </p:spTree>
    <p:extLst>
      <p:ext uri="{BB962C8B-B14F-4D97-AF65-F5344CB8AC3E}">
        <p14:creationId xmlns:p14="http://schemas.microsoft.com/office/powerpoint/2010/main" val="2566702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40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 smtClean="0"/>
              <a:t>Gaussian Example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Sum of last two terms is       like in formula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733" y="1312447"/>
            <a:ext cx="6104534" cy="361736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600" y="5352678"/>
            <a:ext cx="362102" cy="3364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943600"/>
            <a:ext cx="54673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134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Proof</a:t>
            </a:r>
            <a:endParaRPr lang="en-US" sz="36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28800"/>
            <a:ext cx="6286500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9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Sum of a Random Number of RVs</a:t>
            </a:r>
            <a:endParaRPr lang="en-US" sz="3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52601"/>
            <a:ext cx="479501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953000"/>
            <a:ext cx="3581400" cy="39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1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Sum of a Random Number of </a:t>
            </a:r>
            <a:r>
              <a:rPr lang="en-US" sz="3600" kern="0" dirty="0" smtClean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RVs </a:t>
            </a:r>
            <a:r>
              <a:rPr lang="en-US" sz="3600" kern="0" dirty="0" err="1" smtClean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81200"/>
            <a:ext cx="656272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794760"/>
            <a:ext cx="27622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452505"/>
            <a:ext cx="3143250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Variance of a Random Sum</a:t>
            </a:r>
            <a:endParaRPr lang="en-US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93240"/>
            <a:ext cx="5274317" cy="422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2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0"/>
            <a:ext cx="6972300" cy="1007226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Poisson-Gaussian Example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198145"/>
            <a:ext cx="6858000" cy="511375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         </a:t>
            </a:r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     </a:t>
            </a:r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variance of random sum depends on        </a:t>
            </a:r>
          </a:p>
          <a:p>
            <a:pPr marL="0" indent="0">
              <a:buNone/>
            </a:pPr>
            <a:r>
              <a:rPr lang="en-US" dirty="0" smtClean="0"/>
              <a:t>          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1257300"/>
            <a:ext cx="4138574" cy="2560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2022117"/>
            <a:ext cx="2415845" cy="32735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2907643"/>
            <a:ext cx="2596896" cy="3035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573" y="3486652"/>
            <a:ext cx="5559552" cy="1327709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767" y="5473700"/>
            <a:ext cx="166421" cy="19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7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Power Point Lecture Slides for the Textbook </a:t>
            </a:r>
            <a:r>
              <a:rPr lang="en-US" sz="2000" dirty="0" smtClean="0">
                <a:solidFill>
                  <a:prstClr val="black"/>
                </a:solidFill>
              </a:rPr>
              <a:t>http</a:t>
            </a:r>
            <a:r>
              <a:rPr lang="en-US" sz="2000" dirty="0">
                <a:solidFill>
                  <a:prstClr val="black"/>
                </a:solidFill>
              </a:rPr>
              <a:t>://</a:t>
            </a:r>
            <a:r>
              <a:rPr lang="en-US" sz="2000" dirty="0" smtClean="0">
                <a:solidFill>
                  <a:prstClr val="black"/>
                </a:solidFill>
              </a:rPr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John </a:t>
            </a:r>
            <a:r>
              <a:rPr lang="en-US" sz="2000" dirty="0" err="1">
                <a:solidFill>
                  <a:prstClr val="black"/>
                </a:solidFill>
              </a:rPr>
              <a:t>Tsitsiklis</a:t>
            </a:r>
            <a:r>
              <a:rPr lang="en-US" sz="2000" dirty="0">
                <a:solidFill>
                  <a:prstClr val="black"/>
                </a:solidFill>
              </a:rPr>
              <a:t>. </a:t>
            </a:r>
            <a:r>
              <a:rPr lang="en-US" sz="2000" i="1" dirty="0">
                <a:solidFill>
                  <a:prstClr val="black"/>
                </a:solidFill>
              </a:rPr>
              <a:t>6.041 Probabilistic Systems Analysis and Applied Probability, Fall 2010</a:t>
            </a:r>
            <a:r>
              <a:rPr lang="en-US" sz="2000" dirty="0">
                <a:solidFill>
                  <a:prstClr val="black"/>
                </a:solidFill>
              </a:rPr>
              <a:t>. (Massachusetts Institute of Technology: </a:t>
            </a:r>
            <a:r>
              <a:rPr lang="en-US" sz="2000" dirty="0" smtClean="0">
                <a:solidFill>
                  <a:prstClr val="black"/>
                </a:solidFill>
              </a:rPr>
              <a:t>MIT </a:t>
            </a:r>
            <a:r>
              <a:rPr lang="en-US" sz="2000" dirty="0" err="1" smtClean="0">
                <a:solidFill>
                  <a:prstClr val="black"/>
                </a:solidFill>
              </a:rPr>
              <a:t>OpenCourseWare</a:t>
            </a:r>
            <a:r>
              <a:rPr lang="en-US" sz="2000" dirty="0">
                <a:solidFill>
                  <a:prstClr val="black"/>
                </a:solidFill>
              </a:rPr>
              <a:t>),</a:t>
            </a:r>
            <a:r>
              <a:rPr lang="en-US" sz="2000" dirty="0">
                <a:solidFill>
                  <a:prstClr val="black"/>
                </a:solidFill>
                <a:hlinkClick r:id="rId3"/>
              </a:rPr>
              <a:t>http://ocw.mit.edu</a:t>
            </a:r>
            <a:r>
              <a:rPr lang="en-US" sz="2000" dirty="0">
                <a:solidFill>
                  <a:prstClr val="black"/>
                </a:solidFill>
              </a:rPr>
              <a:t> (Accessed 13 Apr, 2015). License: </a:t>
            </a:r>
            <a:r>
              <a:rPr lang="en-US" sz="2000" dirty="0">
                <a:solidFill>
                  <a:prstClr val="black"/>
                </a:solidFill>
                <a:hlinkClick r:id="rId4"/>
              </a:rPr>
              <a:t>Creative Commons </a:t>
            </a:r>
            <a:r>
              <a:rPr lang="en-US" sz="2000" dirty="0" smtClean="0">
                <a:solidFill>
                  <a:prstClr val="black"/>
                </a:solidFill>
                <a:hlinkClick r:id="rId4"/>
              </a:rPr>
              <a:t>BY-NC-SA</a:t>
            </a:r>
            <a:endParaRPr lang="en-US" sz="20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21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83.5"/>
  <p:tag name="ORIGINALWIDTH" val="2503.5"/>
  <p:tag name="LATEXADDIN" val="\documentclass{article}&#10;\usepackage{amsmath}&#10;\pagestyle{empty}&#10;\begin{document}&#10;&#10;&#10;$\begin{aligned}&#10;               &amp;X,Y \hspace{0.1cm} \text{are bivariate Gaussian}\\&#10;               &amp;E\left[X \mid Y=y\right]=\mu_X+\rho_{X,Y}\frac{\sigma_X}{\sigma_Y}(y-\mu_Y)\\&#10;               &amp;\Rightarrow E\left[X \mid Y\right]=\mu_X+\rho_{X,Y}\frac{\sigma_X}{\sigma_Y}(Y-\mu_Y)\\&#10;               &amp;\mathrm{Var}(X \mid Y=y)=\sigma_X^2(1-\rho_{X,Y}^2)=\mathrm{Var}(X \mid Y)\\&#10;               &amp;E\left[\mathrm{Var}(X \mid Y)\right]=\sigma_X^2(1-\rho_{X,Y}^2)\\&#10;               &amp;\mathrm{Var}(E\left[X \mid Y\right])=\rho_{X,Y}^2 \frac{\sigma_X^2}{\sigma_Y^2} \mathrm{Var}(Y)=\rho_{X,Y}^2 \sigma_X^2&#10;  \end{aligned}$&#10;&#10;&#10;&#10;\end{document}"/>
  <p:tag name="IGUANATEXSIZE" val="24"/>
  <p:tag name="IGUANATEXCURSOR" val="644"/>
  <p:tag name="TRANSPARENCY" val="True"/>
  <p:tag name="FILENAME" val=""/>
  <p:tag name="INPUTTYPE" val="0"/>
  <p:tag name="LATEXENGINEID" val="0"/>
  <p:tag name="TEMPFOLDER" val="C:\Users\Abhilash S\Documents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"/>
  <p:tag name="ORIGINALWIDTH" val="148.5"/>
  <p:tag name="LATEXADDIN" val="\documentclass{article}&#10;\usepackage{amsmath}&#10;\pagestyle{empty}&#10;\begin{document}&#10;&#10;&#10;$\sigma_X^2$&#10;&#10;&#10;&#10;\end{document}"/>
  <p:tag name="IGUANATEXSIZE" val="24"/>
  <p:tag name="IGUANATEXCURSOR" val="93"/>
  <p:tag name="TRANSPARENCY" val="True"/>
  <p:tag name="FILENAME" val=""/>
  <p:tag name="INPUTTYPE" val="0"/>
  <p:tag name="LATEXENGINEID" val="0"/>
  <p:tag name="TEMPFOLDER" val="C:\Users\Abhilash S\Documents\te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"/>
  <p:tag name="ORIGINALWIDTH" val="1697.25"/>
  <p:tag name="LATEXADDIN" val="\documentclass{article}&#10;\usepackage{amsmath}&#10;\pagestyle{empty}&#10;\begin{document}&#10;&#10;&#10;$\text{Recall}\hspace{0.1cm}Y=X_1+X_2+...+X_N$&#10;&#10;&#10;\end{document}"/>
  <p:tag name="IGUANATEXSIZE" val="24"/>
  <p:tag name="IGUANATEXCURSOR" val="124"/>
  <p:tag name="TRANSPARENCY" val="True"/>
  <p:tag name="FILENAME" val=""/>
  <p:tag name="INPUTTYPE" val="0"/>
  <p:tag name="LATEXENGINEID" val="0"/>
  <p:tag name="TEMPFOLDER" val="C:\Users\Abhilash S\Documents\temp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4.25"/>
  <p:tag name="ORIGINALWIDTH" val="990.75"/>
  <p:tag name="LATEXADDIN" val="\documentclass{article}&#10;\usepackage{amsmath}&#10;\pagestyle{empty}&#10;\begin{document}&#10;&#10;&#10;$\text{Let} \hspace{0.1cm} X_i \sim \mathcal{N}(\mu,\sigma^2)$&#10;&#10;&#10;&#10;\end{document}"/>
  <p:tag name="IGUANATEXSIZE" val="24"/>
  <p:tag name="IGUANATEXCURSOR" val="126"/>
  <p:tag name="TRANSPARENCY" val="True"/>
  <p:tag name="FILENAME" val=""/>
  <p:tag name="INPUTTYPE" val="0"/>
  <p:tag name="LATEXENGINEID" val="0"/>
  <p:tag name="TEMPFOLDER" val="C:\Users\Abhilash S\Documents\te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1065"/>
  <p:tag name="LATEXADDIN" val="\documentclass{article}&#10;\usepackage{amsmath}&#10;\pagestyle{empty}&#10;\begin{document}&#10;&#10;&#10;$\begin{aligned}            &#10;               \text{Let} \hspace{0.1cm} N \sim \text{Poisson}(\alpha)&#10;  \end{aligned}$&#10;&#10;&#10;&#10;\end{document}"/>
  <p:tag name="IGUANATEXSIZE" val="24"/>
  <p:tag name="IGUANATEXCURSOR" val="173"/>
  <p:tag name="TRANSPARENCY" val="True"/>
  <p:tag name="FILENAME" val=""/>
  <p:tag name="INPUTTYPE" val="0"/>
  <p:tag name="LATEXENGINEID" val="0"/>
  <p:tag name="TEMPFOLDER" val="C:\Users\Abhilash S\Documents\temp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44.5"/>
  <p:tag name="ORIGINALWIDTH" val="2280"/>
  <p:tag name="LATEXADDIN" val="\documentclass{article}&#10;\usepackage{amsmath}&#10;\pagestyle{empty}&#10;\begin{document}&#10;&#10;&#10;$\begin{aligned}&#10;               \mathrm{Var}(Y)&amp;=E\left[N\right]\mathrm{Var}(X)+(E\left[X\right])^2 \mathrm{Var}(N)\\&#10;                              &amp;=\alpha \sigma^2 + \mu^2\alpha\\&#10;                              &amp;=(\mu^2+\sigma^2)\alpha&#10;  \end{aligned}$&#10;&#10;&#10;&#10;\end{document}"/>
  <p:tag name="IGUANATEXSIZE" val="24"/>
  <p:tag name="IGUANATEXCURSOR" val="30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1.75"/>
  <p:tag name="ORIGINALWIDTH" val="68.25"/>
  <p:tag name="LATEXADDIN" val="\documentclass{article}&#10;\usepackage{amsmath}&#10;\pagestyle{empty}&#10;\begin{document}&#10;&#10;&#10;$\mu$&#10;&#10;&#10;&#10;\end{document}"/>
  <p:tag name="IGUANATEXSIZE" val="24"/>
  <p:tag name="IGUANATEXCURSOR" val="86"/>
  <p:tag name="TRANSPARENCY" val="True"/>
  <p:tag name="FILENAME" val=""/>
  <p:tag name="INPUTTYPE" val="0"/>
  <p:tag name="LATEXENGINEID" val="0"/>
  <p:tag name="TEMPFOLDER" val="C:\Users\Abhilash S\Documents\temp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1997</TotalTime>
  <Words>199</Words>
  <Application>Microsoft Office PowerPoint</Application>
  <PresentationFormat>On-screen Show (4:3)</PresentationFormat>
  <Paragraphs>67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Office Theme</vt:lpstr>
      <vt:lpstr>1_Office Theme</vt:lpstr>
      <vt:lpstr>2_Office Theme</vt:lpstr>
      <vt:lpstr>Conditional Expectation</vt:lpstr>
      <vt:lpstr>Conditional Expectation</vt:lpstr>
      <vt:lpstr>Gaussian Case</vt:lpstr>
      <vt:lpstr>PowerPoint Presentation</vt:lpstr>
      <vt:lpstr>Gaussian Case Cont’</vt:lpstr>
      <vt:lpstr>Iterated Expectations</vt:lpstr>
      <vt:lpstr>Iterated Expectations Gaussian Example</vt:lpstr>
      <vt:lpstr>Conditional Variance</vt:lpstr>
      <vt:lpstr>Stick Example</vt:lpstr>
      <vt:lpstr>PowerPoint Presentation</vt:lpstr>
      <vt:lpstr>Gaussian Example</vt:lpstr>
      <vt:lpstr>Proof</vt:lpstr>
      <vt:lpstr>Sum of a Random Number of RVs</vt:lpstr>
      <vt:lpstr>Sum of a Random Number of RVs Cont’</vt:lpstr>
      <vt:lpstr>Variance of a Random Sum</vt:lpstr>
      <vt:lpstr>Poisson-Gaussian Example</vt:lpstr>
      <vt:lpstr>Acknowledgements and Citations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Expectation</dc:title>
  <dc:creator>Cihan Tepedelenlioglu</dc:creator>
  <cp:lastModifiedBy>Cihan Tepedelenlioglu</cp:lastModifiedBy>
  <cp:revision>15</cp:revision>
  <dcterms:created xsi:type="dcterms:W3CDTF">2015-06-06T00:51:44Z</dcterms:created>
  <dcterms:modified xsi:type="dcterms:W3CDTF">2016-02-26T18:17:52Z</dcterms:modified>
</cp:coreProperties>
</file>