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C77A2-096E-4BE4-B024-E37070EA0DB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D61F5-78CE-48BB-AFE4-58DF5D2B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77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11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333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A20B0-1632-42AD-8085-36E79C23508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C106-EE52-4C74-AAAD-57B848866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5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A20B0-1632-42AD-8085-36E79C23508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C106-EE52-4C74-AAAD-57B848866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16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A20B0-1632-42AD-8085-36E79C23508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C106-EE52-4C74-AAAD-57B848866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6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A20B0-1632-42AD-8085-36E79C23508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C106-EE52-4C74-AAAD-57B848866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A20B0-1632-42AD-8085-36E79C23508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C106-EE52-4C74-AAAD-57B848866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37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A20B0-1632-42AD-8085-36E79C23508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C106-EE52-4C74-AAAD-57B848866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91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A20B0-1632-42AD-8085-36E79C23508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C106-EE52-4C74-AAAD-57B848866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29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A20B0-1632-42AD-8085-36E79C23508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C106-EE52-4C74-AAAD-57B848866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48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A20B0-1632-42AD-8085-36E79C23508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C106-EE52-4C74-AAAD-57B848866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78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A20B0-1632-42AD-8085-36E79C23508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C106-EE52-4C74-AAAD-57B848866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40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A20B0-1632-42AD-8085-36E79C23508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C106-EE52-4C74-AAAD-57B848866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05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0"/>
            <a:ext cx="6858000" cy="1007226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198145"/>
            <a:ext cx="6858000" cy="4913897"/>
          </a:xfr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370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42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24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75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439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5216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254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652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553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0806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55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A20B0-1632-42AD-8085-36E79C23508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CC106-EE52-4C74-AAAD-57B848866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51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643AF-56AF-476C-8127-1E36D80C146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26306-94AF-4FDD-A05C-A3B778A081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12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6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Joint Distributions: CDF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690125"/>
            <a:ext cx="320040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747275"/>
            <a:ext cx="407670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44880" y="5181600"/>
            <a:ext cx="6167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Applies to continuous or discrete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Can be extended to more than 2 RVs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CDF factors to product of </a:t>
            </a:r>
            <a:r>
              <a:rPr lang="en-US" sz="2000" dirty="0" err="1" smtClean="0"/>
              <a:t>marginals</a:t>
            </a:r>
            <a:r>
              <a:rPr lang="en-US" sz="2000" dirty="0" smtClean="0"/>
              <a:t> if RVs independent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828800"/>
            <a:ext cx="36099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5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6581775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800600"/>
            <a:ext cx="2790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1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</a:t>
            </a:r>
            <a:endParaRPr lang="en-US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28520"/>
            <a:ext cx="75628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4709160"/>
            <a:ext cx="53001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Both </a:t>
            </a:r>
            <a:r>
              <a:rPr lang="en-US" sz="2400" i="1" dirty="0" smtClean="0"/>
              <a:t>X</a:t>
            </a:r>
            <a:r>
              <a:rPr lang="en-US" sz="2400" dirty="0" smtClean="0"/>
              <a:t> and </a:t>
            </a:r>
            <a:r>
              <a:rPr lang="en-US" sz="2400" i="1" dirty="0" smtClean="0"/>
              <a:t>Y</a:t>
            </a:r>
            <a:r>
              <a:rPr lang="en-US" sz="2400" dirty="0" smtClean="0"/>
              <a:t> are uniformly distributed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Also, </a:t>
            </a:r>
            <a:r>
              <a:rPr lang="en-US" sz="2400" i="1" dirty="0"/>
              <a:t>X</a:t>
            </a:r>
            <a:r>
              <a:rPr lang="en-US" sz="2400" dirty="0"/>
              <a:t> and </a:t>
            </a:r>
            <a:r>
              <a:rPr lang="en-US" sz="2400" i="1" dirty="0"/>
              <a:t>Y</a:t>
            </a:r>
            <a:r>
              <a:rPr lang="en-US" sz="2400" dirty="0"/>
              <a:t> are </a:t>
            </a:r>
            <a:r>
              <a:rPr lang="en-US" sz="2400" dirty="0" smtClean="0"/>
              <a:t>independent!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5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Joint PMF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78612" y="4396389"/>
            <a:ext cx="59746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Convenient for discrete random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smtClean="0">
                <a:solidFill>
                  <a:prstClr val="black"/>
                </a:solidFill>
              </a:rPr>
              <a:t>            and            are called marginal PMFs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A rectangular array of probabilities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Row-wise sum? Column-wise sum?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1955083"/>
            <a:ext cx="36195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3076948"/>
            <a:ext cx="654367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800600"/>
            <a:ext cx="8001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956" y="4800600"/>
            <a:ext cx="8286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7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71675"/>
            <a:ext cx="52197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649980"/>
            <a:ext cx="467677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2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</a:t>
            </a:r>
            <a:endParaRPr lang="en-US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905000"/>
            <a:ext cx="7848600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0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Recall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5076825" cy="4487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0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Joint PDF Definition</a:t>
            </a:r>
            <a:endParaRPr 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30" y="1881505"/>
            <a:ext cx="45910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10" y="2973820"/>
            <a:ext cx="32575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10" y="4114800"/>
            <a:ext cx="16764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10" y="5105400"/>
            <a:ext cx="3324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7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Joint PDF Interpretation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Interpretation: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From the joint to the marginal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0" y="1587539"/>
            <a:ext cx="4780484" cy="5376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0" y="2997278"/>
            <a:ext cx="6400800" cy="3401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0" y="4440519"/>
            <a:ext cx="5051146" cy="167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1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600" y="0"/>
            <a:ext cx="8724900" cy="1007226"/>
          </a:xfrm>
        </p:spPr>
        <p:txBody>
          <a:bodyPr/>
          <a:lstStyle/>
          <a:p>
            <a:r>
              <a:rPr lang="en-US" dirty="0" smtClean="0"/>
              <a:t>Joint PDF Interpretation </a:t>
            </a:r>
            <a:r>
              <a:rPr lang="en-US" dirty="0" err="1" smtClean="0"/>
              <a:t>Cont</a:t>
            </a:r>
            <a:r>
              <a:rPr lang="en-US" dirty="0" smtClean="0"/>
              <a:t>’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099" y="1219200"/>
            <a:ext cx="6858000" cy="4913897"/>
          </a:xfrm>
        </p:spPr>
        <p:txBody>
          <a:bodyPr/>
          <a:lstStyle/>
          <a:p>
            <a:r>
              <a:rPr lang="en-US" dirty="0" smtClean="0"/>
              <a:t>Expectations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Independence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Follows from factorization of the CDF and 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757" y="2209800"/>
            <a:ext cx="6102705" cy="3767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733800"/>
            <a:ext cx="4946904" cy="316382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105400"/>
            <a:ext cx="32575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275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Power Point Lecture Slides for the Textbook </a:t>
            </a:r>
            <a:r>
              <a:rPr lang="en-US" sz="2000" dirty="0" smtClean="0">
                <a:solidFill>
                  <a:prstClr val="black"/>
                </a:solidFill>
              </a:rPr>
              <a:t>http</a:t>
            </a:r>
            <a:r>
              <a:rPr lang="en-US" sz="2000" dirty="0">
                <a:solidFill>
                  <a:prstClr val="black"/>
                </a:solidFill>
              </a:rPr>
              <a:t>://</a:t>
            </a:r>
            <a:r>
              <a:rPr lang="en-US" sz="2000" dirty="0" smtClean="0">
                <a:solidFill>
                  <a:prstClr val="black"/>
                </a:solidFill>
              </a:rPr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John </a:t>
            </a:r>
            <a:r>
              <a:rPr lang="en-US" sz="2000" dirty="0" err="1">
                <a:solidFill>
                  <a:prstClr val="black"/>
                </a:solidFill>
              </a:rPr>
              <a:t>Tsitsiklis</a:t>
            </a:r>
            <a:r>
              <a:rPr lang="en-US" sz="2000" dirty="0">
                <a:solidFill>
                  <a:prstClr val="black"/>
                </a:solidFill>
              </a:rPr>
              <a:t>. </a:t>
            </a:r>
            <a:r>
              <a:rPr lang="en-US" sz="2000" i="1" dirty="0">
                <a:solidFill>
                  <a:prstClr val="black"/>
                </a:solidFill>
              </a:rPr>
              <a:t>6.041 Probabilistic Systems Analysis and Applied Probability, Fall 2010</a:t>
            </a:r>
            <a:r>
              <a:rPr lang="en-US" sz="2000" dirty="0">
                <a:solidFill>
                  <a:prstClr val="black"/>
                </a:solidFill>
              </a:rPr>
              <a:t>. (Massachusetts Institute of Technology: </a:t>
            </a:r>
            <a:r>
              <a:rPr lang="en-US" sz="2000" dirty="0" smtClean="0">
                <a:solidFill>
                  <a:prstClr val="black"/>
                </a:solidFill>
              </a:rPr>
              <a:t>MIT </a:t>
            </a:r>
            <a:r>
              <a:rPr lang="en-US" sz="2000" dirty="0" err="1" smtClean="0">
                <a:solidFill>
                  <a:prstClr val="black"/>
                </a:solidFill>
              </a:rPr>
              <a:t>OpenCourseWare</a:t>
            </a:r>
            <a:r>
              <a:rPr lang="en-US" sz="2000" dirty="0">
                <a:solidFill>
                  <a:prstClr val="black"/>
                </a:solidFill>
              </a:rPr>
              <a:t>),</a:t>
            </a:r>
            <a:r>
              <a:rPr lang="en-US" sz="2000" dirty="0">
                <a:solidFill>
                  <a:prstClr val="black"/>
                </a:solidFill>
                <a:hlinkClick r:id="rId3"/>
              </a:rPr>
              <a:t>http://ocw.mit.edu</a:t>
            </a:r>
            <a:r>
              <a:rPr lang="en-US" sz="2000" dirty="0">
                <a:solidFill>
                  <a:prstClr val="black"/>
                </a:solidFill>
              </a:rPr>
              <a:t> (Accessed 13 Apr, 2015). License: </a:t>
            </a:r>
            <a:r>
              <a:rPr lang="en-US" sz="2000" dirty="0">
                <a:solidFill>
                  <a:prstClr val="black"/>
                </a:solidFill>
                <a:hlinkClick r:id="rId4"/>
              </a:rPr>
              <a:t>Creative Commons </a:t>
            </a:r>
            <a:r>
              <a:rPr lang="en-US" sz="2000" dirty="0" smtClean="0">
                <a:solidFill>
                  <a:prstClr val="black"/>
                </a:solidFill>
                <a:hlinkClick r:id="rId4"/>
              </a:rPr>
              <a:t>BY-NC-SA</a:t>
            </a: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0.5"/>
  <p:tag name="ORIGINALWIDTH" val="1960.5"/>
  <p:tag name="LATEXADDIN" val="\documentclass{article}&#10;\usepackage{amsmath}&#10;\pagestyle{empty}&#10;\begin{document}&#10;&#10;&#10;$P\left[(X,Y)\in S\right]=\iint\limits_\mathcal{S} f_{X,Y}(x,y) \,dx\,dy $&#10;&#10;&#10;&#10;\end{document}"/>
  <p:tag name="IGUANATEXSIZE" val="24"/>
  <p:tag name="IGUANATEXCURSOR" val="131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9.5"/>
  <p:tag name="ORIGINALWIDTH" val="2625"/>
  <p:tag name="LATEXADDIN" val="\documentclass{article}&#10;\usepackage{amsmath}&#10;\pagestyle{empty}&#10;\begin{document}&#10;&#10;&#10;$P\left[x \le X \le x+\delta , y \le Y \le y+\delta \right]\approx f_{X,Y}(x,y) \delta^2$&#10;&#10;&#10;\end{document}"/>
  <p:tag name="IGUANATEXSIZE" val="24"/>
  <p:tag name="IGUANATEXCURSOR" val="170"/>
  <p:tag name="TRANSPARENCY" val="True"/>
  <p:tag name="FILENAME" val=""/>
  <p:tag name="INPUTTYPE" val="0"/>
  <p:tag name="LATEXENGINEID" val="0"/>
  <p:tag name="TEMPFOLDER" val="C:\Users\Abhilash S\Documents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85.5"/>
  <p:tag name="ORIGINALWIDTH" val="2071.5"/>
  <p:tag name="LATEXADDIN" val="\documentclass{article}&#10;\usepackage{amsmath}&#10;\pagestyle{empty}&#10;\begin{document}&#10;&#10;&#10;$\begin{aligned}&#10;               P\left[X \in A\right]&amp;=P\left[X \in A,-\infty \le Y \le \infty\right]\\&#10;                                    &amp;=\int_{A}^{} \underbrace {\int_{-\infty}^{\infty}  f_{X,Y}(x,y) \,dy}_{f_X(x)} \,dx  &#10;  \end{aligned}$&#10;&#10;&#10;&#10;\end{document}"/>
  <p:tag name="IGUANATEXSIZE" val="24"/>
  <p:tag name="IGUANATEXCURSOR" val="301"/>
  <p:tag name="TRANSPARENCY" val="True"/>
  <p:tag name="FILENAME" val=""/>
  <p:tag name="INPUTTYPE" val="0"/>
  <p:tag name="LATEXENGINEID" val="0"/>
  <p:tag name="TEMPFOLDER" val="C:\Users\Abhilash S\Documents\te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4.5"/>
  <p:tag name="ORIGINALWIDTH" val="2502.75"/>
  <p:tag name="LATEXADDIN" val="\documentclass{article}&#10;\usepackage{amsmath}&#10;\pagestyle{empty}&#10;\begin{document}&#10;&#10;&#10;$E\left[g(X,Y)\right]=\int_{- \infty}^{\infty} \int_{-\infty}^{\infty}  g(x,y)f_{X,Y}(x,y) \,dx\,dy  &#10;$&#10;&#10;&#10;&#10;\end{document}"/>
  <p:tag name="IGUANATEXSIZE" val="24"/>
  <p:tag name="IGUANATEXCURSOR" val="181"/>
  <p:tag name="TRANSPARENCY" val="True"/>
  <p:tag name="FILENAME" val=""/>
  <p:tag name="INPUTTYPE" val="0"/>
  <p:tag name="LATEXENGINEID" val="0"/>
  <p:tag name="TEMPFOLDER" val="C:\Users\Abhilash S\Documents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9.75"/>
  <p:tag name="ORIGINALWIDTH" val="2028.75"/>
  <p:tag name="LATEXADDIN" val="\documentclass{article}&#10;\usepackage{amsmath}&#10;\pagestyle{empty}&#10;\begin{document}&#10;&#10;&#10;$f_{X,Y}(x,y)=f_X(x) \hspace{0.1cm}f_Y(y)\hspace{0.3cm}\text{for all}\hspace{0.1cm}x,y$&#10;&#10;&#10;&#10;\end{document}"/>
  <p:tag name="IGUANATEXSIZE" val="24"/>
  <p:tag name="IGUANATEXCURSOR" val="165"/>
  <p:tag name="TRANSPARENCY" val="True"/>
  <p:tag name="FILENAME" val=""/>
  <p:tag name="INPUTTYPE" val="0"/>
  <p:tag name="LATEXENGINEID" val="0"/>
  <p:tag name="TEMPFOLDER" val="C:\Users\Abhilash S\Documents\temp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136</Words>
  <Application>Microsoft Office PowerPoint</Application>
  <PresentationFormat>On-screen Show (4:3)</PresentationFormat>
  <Paragraphs>50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MS PGothic</vt:lpstr>
      <vt:lpstr>Akzidenz-Grotesk Pro Bold</vt:lpstr>
      <vt:lpstr>Arial</vt:lpstr>
      <vt:lpstr>Calibri</vt:lpstr>
      <vt:lpstr>Calibri Light</vt:lpstr>
      <vt:lpstr>Office Theme</vt:lpstr>
      <vt:lpstr>1_Office Theme</vt:lpstr>
      <vt:lpstr>Joint Distributions: CDF</vt:lpstr>
      <vt:lpstr>Example</vt:lpstr>
      <vt:lpstr>Solution</vt:lpstr>
      <vt:lpstr>Joint PMF</vt:lpstr>
      <vt:lpstr>Example</vt:lpstr>
      <vt:lpstr>Solution</vt:lpstr>
      <vt:lpstr>Recall</vt:lpstr>
      <vt:lpstr>Joint PDF Definition</vt:lpstr>
      <vt:lpstr>Joint PDF Interpretation</vt:lpstr>
      <vt:lpstr>Joint PDF Interpretation Cont’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Joint Distributions: CDF</dc:title>
  <dc:creator>Cihan Tepedelenlioglu</dc:creator>
  <cp:lastModifiedBy>Abhilash Sureshbabu</cp:lastModifiedBy>
  <cp:revision>9</cp:revision>
  <dcterms:created xsi:type="dcterms:W3CDTF">2015-06-06T00:38:35Z</dcterms:created>
  <dcterms:modified xsi:type="dcterms:W3CDTF">2016-02-19T00:17:06Z</dcterms:modified>
</cp:coreProperties>
</file>