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4" r:id="rId6"/>
    <p:sldId id="261" r:id="rId7"/>
    <p:sldId id="267" r:id="rId8"/>
    <p:sldId id="262" r:id="rId9"/>
    <p:sldId id="263" r:id="rId10"/>
    <p:sldId id="268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39" autoAdjust="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CC1DB-A289-49D0-A2FA-F01347C38A31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CF1DA3-8D06-4CA4-9842-BB4AA3CAC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9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40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818BF-223C-4206-9F44-91CC0B53A4C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1CB4-37C3-42E2-BE53-0D018863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77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818BF-223C-4206-9F44-91CC0B53A4C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1CB4-37C3-42E2-BE53-0D018863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5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818BF-223C-4206-9F44-91CC0B53A4C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1CB4-37C3-42E2-BE53-0D018863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8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818BF-223C-4206-9F44-91CC0B53A4C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1CB4-37C3-42E2-BE53-0D018863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4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818BF-223C-4206-9F44-91CC0B53A4C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1CB4-37C3-42E2-BE53-0D018863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103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818BF-223C-4206-9F44-91CC0B53A4C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1CB4-37C3-42E2-BE53-0D018863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6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818BF-223C-4206-9F44-91CC0B53A4C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1CB4-37C3-42E2-BE53-0D018863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01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818BF-223C-4206-9F44-91CC0B53A4C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1CB4-37C3-42E2-BE53-0D018863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703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818BF-223C-4206-9F44-91CC0B53A4C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1CB4-37C3-42E2-BE53-0D018863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14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818BF-223C-4206-9F44-91CC0B53A4C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1CB4-37C3-42E2-BE53-0D018863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940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818BF-223C-4206-9F44-91CC0B53A4C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91CB4-37C3-42E2-BE53-0D018863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40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818BF-223C-4206-9F44-91CC0B53A4C3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91CB4-37C3-42E2-BE53-0D018863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89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Binary Hypothesis Testing</a:t>
            </a:r>
            <a:endParaRPr lang="en-US" sz="36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28800"/>
            <a:ext cx="5705475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33886" y="5257800"/>
            <a:ext cx="78101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Unlike Bayesian case, there is no prior distribution on parameter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Null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hyp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 is “status quo”, Alternative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hyp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.: “something new”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E.g., testing effectiveness of a drug; initially presume ineffective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669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Type I and Type II Errors</a:t>
            </a:r>
            <a:endParaRPr lang="en-US" sz="36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62" y="1828799"/>
            <a:ext cx="4964837" cy="3356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14400" y="5334000"/>
            <a:ext cx="7396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Type I probability is AKA, “false alarm prob.”, or “significance level”</a:t>
            </a:r>
          </a:p>
        </p:txBody>
      </p:sp>
    </p:spTree>
    <p:extLst>
      <p:ext uri="{BB962C8B-B14F-4D97-AF65-F5344CB8AC3E}">
        <p14:creationId xmlns:p14="http://schemas.microsoft.com/office/powerpoint/2010/main" val="586482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Likelihood Ratio Test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654638" y="2051049"/>
            <a:ext cx="61010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How to identify the rejection region?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Accept           if the “likelihood ratio” is “large enough”</a:t>
            </a:r>
            <a:endParaRPr lang="en-US" sz="200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200400"/>
            <a:ext cx="2438400" cy="1181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371622"/>
            <a:ext cx="425101" cy="387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38200" y="5029200"/>
            <a:ext cx="71290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Threshold      trades off Type I and Type II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Often, thresholding  the likelihood ratio is same as thresholding</a:t>
            </a:r>
          </a:p>
          <a:p>
            <a:r>
              <a:rPr lang="en-US" sz="2000" dirty="0" smtClean="0"/>
              <a:t>      a function of the observations</a:t>
            </a:r>
            <a:endParaRPr lang="en-US" sz="2000" dirty="0"/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167" y="5029200"/>
            <a:ext cx="186989" cy="353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5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ea typeface="MS PGothic" pitchFamily="34" charset="-128"/>
                <a:sym typeface="Akzidenz-Grotesk Pro Bold" charset="0"/>
              </a:rPr>
              <a:t>Example (Testing Mean)</a:t>
            </a:r>
            <a:endParaRPr lang="en-US" sz="360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1676400"/>
            <a:ext cx="3124200" cy="1428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3093600"/>
            <a:ext cx="4876800" cy="407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733800"/>
            <a:ext cx="4529137" cy="8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026" y="4740852"/>
            <a:ext cx="1590675" cy="742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23900" y="5867400"/>
            <a:ext cx="74238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Finding the relationship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betw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the two thresholds not crucial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What is important is that, the sum needs to be “large enough”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67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kern="0" dirty="0">
                <a:solidFill>
                  <a:srgbClr val="FFB310"/>
                </a:solidFill>
                <a:ea typeface="MS PGothic" pitchFamily="34" charset="-128"/>
                <a:sym typeface="Akzidenz-Grotesk Pro Bold" charset="0"/>
              </a:rPr>
              <a:t>Example </a:t>
            </a:r>
            <a:r>
              <a:rPr lang="en-US" sz="3600" kern="0" dirty="0" smtClean="0">
                <a:solidFill>
                  <a:srgbClr val="FFB310"/>
                </a:solidFill>
                <a:ea typeface="MS PGothic" pitchFamily="34" charset="-128"/>
                <a:sym typeface="Akzidenz-Grotesk Pro Bold" charset="0"/>
              </a:rPr>
              <a:t>(</a:t>
            </a:r>
            <a:r>
              <a:rPr lang="en-US" sz="3600" kern="0" dirty="0" err="1" smtClean="0">
                <a:solidFill>
                  <a:srgbClr val="FFB310"/>
                </a:solidFill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ea typeface="MS PGothic" pitchFamily="34" charset="-128"/>
                <a:sym typeface="Akzidenz-Grotesk Pro Bold" charset="0"/>
              </a:rPr>
              <a:t>’)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690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ea typeface="MS PGothic" pitchFamily="34" charset="-128"/>
                <a:sym typeface="Akzidenz-Grotesk Pro Bold" charset="0"/>
              </a:rPr>
              <a:t>How to find Threshold</a:t>
            </a:r>
            <a:endParaRPr lang="en-US" sz="360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92267"/>
            <a:ext cx="4953000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62000" y="4495800"/>
            <a:ext cx="57256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Pick, threshold to get a tolerable false alarm prob.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    is typically small (e.g.,                  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Let us now find the threshold on the sum to get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491" y="4986069"/>
            <a:ext cx="143256" cy="114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4898439"/>
            <a:ext cx="920496" cy="1752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5226099"/>
            <a:ext cx="920496" cy="17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7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kern="0" dirty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Apply CLT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5791200" cy="4634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Straight Connector 10"/>
          <p:cNvCxnSpPr/>
          <p:nvPr/>
        </p:nvCxnSpPr>
        <p:spPr>
          <a:xfrm>
            <a:off x="5334000" y="3917576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644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ea typeface="MS PGothic" pitchFamily="34" charset="-128"/>
                <a:sym typeface="Akzidenz-Grotesk Pro Bold" charset="0"/>
              </a:rPr>
              <a:t>Example (Testing Variance)</a:t>
            </a:r>
            <a:endParaRPr lang="en-US" sz="3600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28800"/>
            <a:ext cx="3048000" cy="1183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69936"/>
            <a:ext cx="5867400" cy="512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900" y="3918559"/>
            <a:ext cx="5144799" cy="912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181600"/>
            <a:ext cx="1895475" cy="742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54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ea typeface="MS PGothic" pitchFamily="34" charset="-128"/>
                <a:sym typeface="Akzidenz-Grotesk Pro Bold" charset="0"/>
              </a:rPr>
              <a:t>How to Find Threshold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418" y="4724400"/>
            <a:ext cx="5943600" cy="6990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143000" y="1905000"/>
                <a:ext cx="5957080" cy="2554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Find threshold such that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distribution of the sums of squared is called</a:t>
                </a:r>
              </a:p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  “chi-squared”. There are tables, or numerically</a:t>
                </a:r>
              </a:p>
              <a:p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even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905000"/>
                <a:ext cx="5957080" cy="2554545"/>
              </a:xfrm>
              <a:prstGeom prst="rect">
                <a:avLst/>
              </a:prstGeom>
              <a:blipFill rotWithShape="1">
                <a:blip r:embed="rId5"/>
                <a:stretch>
                  <a:fillRect l="-921" t="-955" r="-102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348222"/>
            <a:ext cx="2736463" cy="73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02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84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88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6.25"/>
  <p:tag name="ORIGINALWIDTH" val="70.5"/>
  <p:tag name="LATEXADDIN" val="\documentclass{article}&#10;\usepackage{amsmath}&#10;\pagestyle{empty}&#10;\begin{document}&#10;$$\alpha$$&#10;\end{document}"/>
  <p:tag name="IGUANATEXSIZE" val="20"/>
  <p:tag name="IGUANATEXCURSOR" val="8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25"/>
  <p:tag name="ORIGINALWIDTH" val="453"/>
  <p:tag name="LATEXADDIN" val="\documentclass{article}&#10;\usepackage{amsmath}&#10;\pagestyle{empty}&#10;\begin{document}&#10;$$\alpha=0.01$$&#10;\end{document}"/>
  <p:tag name="IGUANATEXSIZE" val="20"/>
  <p:tag name="IGUANATEXCURSOR" val="9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25"/>
  <p:tag name="ORIGINALWIDTH" val="453"/>
  <p:tag name="LATEXADDIN" val="\documentclass{article}&#10;\usepackage{amsmath}&#10;\pagestyle{empty}&#10;\begin{document}&#10;$$\alpha=0.01$$&#10;\end{document}"/>
  <p:tag name="IGUANATEXSIZE" val="20"/>
  <p:tag name="IGUANATEXCURSOR" val="9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6772"/>
  <p:tag name="ORIGINALWIDTH" val="720.6893"/>
  <p:tag name="LATEXADDIN" val="\documentclass{article}&#10;\usepackage{amsmath}&#10;\pagestyle{empty}&#10;\begin{document}&#10;$${\bf P}\left(\sum_{i=1}^n X_i^2 &gt; \xi'; H_0\right) = &#10;\int_{\xi'}^\infty \frac{1}{2^{n/2} (n/2-1)!}x^{n/2-1} e^{-x/2} dx$$&#10;\end{document}"/>
  <p:tag name="IGUANATEXSIZE" val="20"/>
  <p:tag name="IGUANATEXCURSOR" val="20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73.5"/>
  <p:tag name="ORIGINALWIDTH" val="1397.25"/>
  <p:tag name="LATEXADDIN" val="\documentclass{article}&#10;\usepackage{amsmath}&#10;\pagestyle{empty}&#10;\begin{document}&#10;$${\bf P}\left(\sum_{i=1}^n X_i^2 &gt; \xi'; H_0\right) = \alpha$$&#10;\end{document}"/>
  <p:tag name="IGUANATEXSIZE" val="20"/>
  <p:tag name="IGUANATEXCURSOR" val="14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249</Words>
  <Application>Microsoft Office PowerPoint</Application>
  <PresentationFormat>On-screen Show (4:3)</PresentationFormat>
  <Paragraphs>45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MS PGothic</vt:lpstr>
      <vt:lpstr>Akzidenz-Grotesk Pro Bold</vt:lpstr>
      <vt:lpstr>Arial</vt:lpstr>
      <vt:lpstr>Calibri</vt:lpstr>
      <vt:lpstr>Cambria Math</vt:lpstr>
      <vt:lpstr>Office Theme</vt:lpstr>
      <vt:lpstr>Binary Hypothesis Testing</vt:lpstr>
      <vt:lpstr>Type I and Type II Errors</vt:lpstr>
      <vt:lpstr>Likelihood Ratio Test</vt:lpstr>
      <vt:lpstr>Example (Testing Mean)</vt:lpstr>
      <vt:lpstr>Example (Cont’)</vt:lpstr>
      <vt:lpstr>How to find Threshold</vt:lpstr>
      <vt:lpstr>Apply CLT</vt:lpstr>
      <vt:lpstr>Example (Testing Variance)</vt:lpstr>
      <vt:lpstr>How to Find Threshold</vt:lpstr>
      <vt:lpstr>PowerPoint Presentation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18</cp:revision>
  <dcterms:created xsi:type="dcterms:W3CDTF">2015-06-06T00:57:41Z</dcterms:created>
  <dcterms:modified xsi:type="dcterms:W3CDTF">2016-02-19T00:39:25Z</dcterms:modified>
</cp:coreProperties>
</file>