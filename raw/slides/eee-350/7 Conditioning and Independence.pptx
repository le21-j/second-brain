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16"/>
  </p:notesMasterIdLst>
  <p:sldIdLst>
    <p:sldId id="257" r:id="rId5"/>
    <p:sldId id="263" r:id="rId6"/>
    <p:sldId id="258" r:id="rId7"/>
    <p:sldId id="264" r:id="rId8"/>
    <p:sldId id="265" r:id="rId9"/>
    <p:sldId id="260" r:id="rId10"/>
    <p:sldId id="266" r:id="rId11"/>
    <p:sldId id="261" r:id="rId12"/>
    <p:sldId id="262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FE8950-B731-4FCE-818B-DD4F7757B27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1294F-9C6E-4EBE-A2F6-1C416751A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52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27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24B9-0DD4-4F79-A1FF-93ED813E3A3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C599-35F1-4920-9F55-B3A5FCAA9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24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24B9-0DD4-4F79-A1FF-93ED813E3A3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C599-35F1-4920-9F55-B3A5FCAA9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85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24B9-0DD4-4F79-A1FF-93ED813E3A3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C599-35F1-4920-9F55-B3A5FCAA9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32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24B9-0DD4-4F79-A1FF-93ED813E3A3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C599-35F1-4920-9F55-B3A5FCAA9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4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24B9-0DD4-4F79-A1FF-93ED813E3A3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C599-35F1-4920-9F55-B3A5FCAA9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652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24B9-0DD4-4F79-A1FF-93ED813E3A3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C599-35F1-4920-9F55-B3A5FCAA9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622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24B9-0DD4-4F79-A1FF-93ED813E3A3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C599-35F1-4920-9F55-B3A5FCAA9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203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24B9-0DD4-4F79-A1FF-93ED813E3A3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C599-35F1-4920-9F55-B3A5FCAA9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911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24B9-0DD4-4F79-A1FF-93ED813E3A3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C599-35F1-4920-9F55-B3A5FCAA9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02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24B9-0DD4-4F79-A1FF-93ED813E3A3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C599-35F1-4920-9F55-B3A5FCAA9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36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24B9-0DD4-4F79-A1FF-93ED813E3A3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C599-35F1-4920-9F55-B3A5FCAA9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76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506" y="218907"/>
            <a:ext cx="8578515" cy="1263316"/>
          </a:xfrm>
        </p:spPr>
        <p:txBody>
          <a:bodyPr anchor="b">
            <a:normAutofit/>
          </a:bodyPr>
          <a:lstStyle>
            <a:lvl1pPr algn="ctr">
              <a:lnSpc>
                <a:spcPct val="300000"/>
              </a:lnSpc>
              <a:defRPr sz="480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507" y="1371600"/>
            <a:ext cx="8578514" cy="4463716"/>
          </a:xfrm>
        </p:spPr>
        <p:txBody>
          <a:bodyPr/>
          <a:lstStyle>
            <a:lvl1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156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136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722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4100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983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319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4748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4746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0273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3106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4639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506" y="218907"/>
            <a:ext cx="8578515" cy="1263316"/>
          </a:xfrm>
        </p:spPr>
        <p:txBody>
          <a:bodyPr anchor="b">
            <a:normAutofit/>
          </a:bodyPr>
          <a:lstStyle>
            <a:lvl1pPr algn="ctr">
              <a:lnSpc>
                <a:spcPct val="300000"/>
              </a:lnSpc>
              <a:defRPr sz="480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507" y="1371600"/>
            <a:ext cx="8578514" cy="4463716"/>
          </a:xfrm>
        </p:spPr>
        <p:txBody>
          <a:bodyPr/>
          <a:lstStyle>
            <a:lvl1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566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2337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5800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1598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8672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4955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400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7288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6063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6045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3285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506" y="218907"/>
            <a:ext cx="8578515" cy="1263316"/>
          </a:xfrm>
        </p:spPr>
        <p:txBody>
          <a:bodyPr anchor="b">
            <a:normAutofit/>
          </a:bodyPr>
          <a:lstStyle>
            <a:lvl1pPr algn="ctr">
              <a:lnSpc>
                <a:spcPct val="300000"/>
              </a:lnSpc>
              <a:defRPr sz="480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507" y="1371600"/>
            <a:ext cx="8578514" cy="4463716"/>
          </a:xfrm>
        </p:spPr>
        <p:txBody>
          <a:bodyPr/>
          <a:lstStyle>
            <a:lvl1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2504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6046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3635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9363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3311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6819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2101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0212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2302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2482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352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224B9-0DD4-4F79-A1FF-93ED813E3A3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0C599-35F1-4920-9F55-B3A5FCAA9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66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25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32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78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Independence of Events</a:t>
            </a:r>
            <a:endParaRPr lang="en-US" sz="3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05000"/>
            <a:ext cx="5194351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8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1421" y="108285"/>
            <a:ext cx="7916779" cy="149191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 smtClean="0"/>
              <a:t>Independence is Different than Disjointness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1421" y="1600201"/>
            <a:ext cx="7916779" cy="5016499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Disjoint: </a:t>
            </a:r>
          </a:p>
          <a:p>
            <a:r>
              <a:rPr lang="en-US" dirty="0" smtClean="0"/>
              <a:t>If          disjoint,</a:t>
            </a:r>
          </a:p>
          <a:p>
            <a:r>
              <a:rPr lang="en-US" dirty="0" smtClean="0"/>
              <a:t>If disjoint, events cannot occur at same time.</a:t>
            </a:r>
          </a:p>
          <a:p>
            <a:r>
              <a:rPr lang="en-US" dirty="0" smtClean="0"/>
              <a:t>Independence: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 If independent, occurrence of one event has no influence on the occurrence of the other. 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Independence model captures sequence of dice rolls or sequence of coin tosses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1" y="1968501"/>
            <a:ext cx="1382573" cy="2816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900" y="2735245"/>
            <a:ext cx="1817827" cy="30358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634" y="2762677"/>
            <a:ext cx="583387" cy="27614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900" y="4397801"/>
            <a:ext cx="3152852" cy="30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78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Conditioning May Ruin Independence</a:t>
            </a:r>
            <a:endParaRPr lang="en-US" sz="3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55" y="2204884"/>
            <a:ext cx="4362450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5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Recall Independence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 coin with</a:t>
            </a:r>
          </a:p>
          <a:p>
            <a:r>
              <a:rPr lang="en-US" dirty="0" smtClean="0"/>
              <a:t>Flip a coin 10 times</a:t>
            </a:r>
          </a:p>
          <a:p>
            <a:r>
              <a:rPr lang="en-US" dirty="0" smtClean="0"/>
              <a:t>We model flips as independent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500" y="1739900"/>
            <a:ext cx="1227125" cy="30175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2" y="4324598"/>
            <a:ext cx="7472475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39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28600"/>
            <a:ext cx="8978900" cy="126331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 smtClean="0"/>
              <a:t>Conditioning and Independence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193" y="1698122"/>
            <a:ext cx="8578514" cy="471537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Removing conditioning may ruin independence.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Two unfair coins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 smtClean="0"/>
              <a:t>Choose either with equal probability and perform 10 independent flips. (flips </a:t>
            </a:r>
            <a:r>
              <a:rPr lang="en-US" dirty="0" err="1" smtClean="0"/>
              <a:t>indep</a:t>
            </a:r>
            <a:r>
              <a:rPr lang="en-US" dirty="0" smtClean="0"/>
              <a:t>. </a:t>
            </a:r>
            <a:r>
              <a:rPr lang="en-US" dirty="0"/>
              <a:t>c</a:t>
            </a:r>
            <a:r>
              <a:rPr lang="en-US" dirty="0" smtClean="0"/>
              <a:t>ond. on chosen coin)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               </a:t>
            </a:r>
          </a:p>
          <a:p>
            <a:pPr>
              <a:lnSpc>
                <a:spcPct val="100000"/>
              </a:lnSpc>
            </a:pPr>
            <a:endParaRPr lang="en-US" dirty="0" smtClean="0"/>
          </a:p>
          <a:p>
            <a:pPr>
              <a:lnSpc>
                <a:spcPct val="100000"/>
              </a:lnSpc>
            </a:pPr>
            <a:r>
              <a:rPr lang="en-US" dirty="0" smtClean="0"/>
              <a:t>Intuition: because the first 9 tosses carry info on which coin is chosen.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 smtClean="0"/>
          </a:p>
          <a:p>
            <a:pPr>
              <a:lnSpc>
                <a:spcPct val="100000"/>
              </a:lnSpc>
            </a:pP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967" y="2331851"/>
            <a:ext cx="1269187" cy="22128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13" y="2700058"/>
            <a:ext cx="5715000" cy="30358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13" y="4127291"/>
            <a:ext cx="7209130" cy="30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47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Conditioning and Independence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15" y="2626379"/>
            <a:ext cx="2466975" cy="329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93214" y="2063268"/>
            <a:ext cx="54396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Removing conditioning may ruin independence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We show by calculation in the following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8123502" y="2613127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HH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123502" y="316152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087699" y="347011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dirty="0" smtClean="0"/>
              <a:t>H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090372" y="397542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TT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090372" y="434351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HH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090372" y="4735421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087700" y="5071604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dirty="0" smtClean="0"/>
              <a:t>H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087700" y="553568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TT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93214" y="3404799"/>
            <a:ext cx="523938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Recall given coin, flips are independent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new version of prev. example with two flips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If we don’t know which coin, are flips </a:t>
            </a:r>
            <a:r>
              <a:rPr lang="en-US" sz="2000" dirty="0" err="1" smtClean="0"/>
              <a:t>indep</a:t>
            </a:r>
            <a:r>
              <a:rPr lang="en-US" sz="2000" dirty="0" smtClean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Let’s calculate prob.</a:t>
            </a:r>
            <a:endParaRPr lang="en-US" sz="2000" dirty="0"/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1" y="5593147"/>
            <a:ext cx="4242815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48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953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Independence of a Collection of Events</a:t>
            </a:r>
            <a:endParaRPr lang="en-US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45" y="2133600"/>
            <a:ext cx="5600700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4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Pairwise Independence</a:t>
            </a:r>
            <a:endParaRPr lang="en-US" sz="3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05000"/>
            <a:ext cx="373380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463636"/>
            <a:ext cx="4733925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028741"/>
            <a:ext cx="201930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5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49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58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5.5"/>
  <p:tag name="ORIGINALWIDTH" val="567"/>
  <p:tag name="LATEXADDIN" val="\documentclass{article}&#10;\usepackage{amsmath}&#10;\pagestyle{empty}&#10;\begin{document}&#10;&#10;&#10;$A \cap B = \phi$&#10;&#10;&#10;&#10;\end{document}"/>
  <p:tag name="IGUANATEXSIZE" val="24"/>
  <p:tag name="IGUANATEXCURSOR" val="98"/>
  <p:tag name="TRANSPARENCY" val="True"/>
  <p:tag name="FILENAME" val=""/>
  <p:tag name="INPUTTYPE" val="0"/>
  <p:tag name="LATEXENGINEID" val="0"/>
  <p:tag name="TEMPFOLDER" val="C:\Users\Abhilash S\Documents\te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745.5"/>
  <p:tag name="LATEXADDIN" val="\documentclass{article}&#10;\usepackage{amsmath}&#10;\pagestyle{empty}&#10;\begin{document}&#10;&#10;&#10;$P(A \cap B)=0$&#10;&#10;&#10;&#10;\end{document}"/>
  <p:tag name="IGUANATEXSIZE" val="24"/>
  <p:tag name="IGUANATEXCURSOR" val="83"/>
  <p:tag name="TRANSPARENCY" val="True"/>
  <p:tag name="FILENAME" val=""/>
  <p:tag name="INPUTTYPE" val="0"/>
  <p:tag name="LATEXENGINEID" val="0"/>
  <p:tag name="TEMPFOLDER" val="C:\Users\Abhilash S\Documents\temp\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3.25"/>
  <p:tag name="ORIGINALWIDTH" val="239.25"/>
  <p:tag name="LATEXADDIN" val="\documentclass{article}&#10;\usepackage{amsmath}&#10;\pagestyle{empty}&#10;\begin{document}&#10;&#10;&#10;$A,B$&#10;&#10;&#10;\end{document}"/>
  <p:tag name="IGUANATEXSIZE" val="24"/>
  <p:tag name="IGUANATEXCURSOR" val="87"/>
  <p:tag name="TRANSPARENCY" val="True"/>
  <p:tag name="FILENAME" val=""/>
  <p:tag name="INPUTTYPE" val="0"/>
  <p:tag name="LATEXENGINEID" val="0"/>
  <p:tag name="TEMPFOLDER" val="C:\Users\Abhilash S\Documents\temp\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1293"/>
  <p:tag name="LATEXADDIN" val="\documentclass{article}&#10;\usepackage{amsmath}&#10;\pagestyle{empty}&#10;\begin{document}&#10;&#10;&#10;$P(A \cap B)=P(A) \hspace{0.1cm} P(B)$&#10;&#10;&#10;&#10;\end{document}"/>
  <p:tag name="IGUANATEXSIZE" val="24"/>
  <p:tag name="IGUANATEXCURSOR" val="113"/>
  <p:tag name="TRANSPARENCY" val="True"/>
  <p:tag name="FILENAME" val=""/>
  <p:tag name="INPUTTYPE" val="0"/>
  <p:tag name="LATEXENGINEID" val="0"/>
  <p:tag name="TEMPFOLDER" val="C:\Users\Abhilash S\Documents\temp\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5"/>
  <p:tag name="ORIGINALWIDTH" val="503.25"/>
  <p:tag name="LATEXADDIN" val="\documentclass{article}&#10;\usepackage{amsmath}&#10;\pagestyle{empty}&#10;\begin{document}&#10;&#10;&#10;$P[H]=p$&#10;&#10;&#10;\end{document}"/>
  <p:tag name="IGUANATEXSIZE" val="24"/>
  <p:tag name="IGUANATEXCURSOR" val="89"/>
  <p:tag name="TRANSPARENCY" val="True"/>
  <p:tag name="FILENAME" val=""/>
  <p:tag name="INPUTTYPE" val="0"/>
  <p:tag name="LATEXENGINEID" val="0"/>
  <p:tag name="TEMPFOLDER" val="C:\Users\Abhilash S\Documents\temp\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0"/>
  <p:tag name="ORIGINALWIDTH" val="3064.5"/>
  <p:tag name="LATEXADDIN" val="\documentclass{article}&#10;\usepackage{amsmath}&#10;\pagestyle{empty}&#10;\begin{document}&#10;&#10;&#10;$P\left[10^{th}\hspace{0.1cm} \text{flip}=H \mid \text{first} \hspace{0.1cm} 9 \hspace{0.1cm} \text{are} \hspace{0.1cm} H\right]= P\left[10^{th}\hspace{0.1cm} \text{flip} \hspace{0.1cm} =H\right]=p$&#10;&#10;&#10;&#10;\end{document}"/>
  <p:tag name="IGUANATEXSIZE" val="24"/>
  <p:tag name="IGUANATEXCURSOR" val="277"/>
  <p:tag name="TRANSPARENCY" val="True"/>
  <p:tag name="FILENAME" val=""/>
  <p:tag name="INPUTTYPE" val="0"/>
  <p:tag name="LATEXENGINEID" val="0"/>
  <p:tag name="TEMPFOLDER" val="C:\Users\Abhilash S\Documents\temp\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0.75"/>
  <p:tag name="ORIGINALWIDTH" val="520.5"/>
  <p:tag name="LATEXADDIN" val="\documentclass{article}&#10;\usepackage{amsmath}&#10;\pagestyle{empty}&#10;\begin{document}&#10;&#10;&#10;$A \hspace{0.1cm} \text{and} \hspace{0.1cm} B:$&#10;&#10;&#10;&#10;\end{document}"/>
  <p:tag name="IGUANATEXSIZE" val="24"/>
  <p:tag name="IGUANATEXCURSOR" val="128"/>
  <p:tag name="TRANSPARENCY" val="True"/>
  <p:tag name="FILENAME" val=""/>
  <p:tag name="INPUTTYPE" val="0"/>
  <p:tag name="LATEXENGINEID" val="0"/>
  <p:tag name="TEMPFOLDER" val="C:\Users\Abhilash S\Documents\temp\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2343.75"/>
  <p:tag name="LATEXADDIN" val="\documentclass{article}&#10;\usepackage{amsmath}&#10;\pagestyle{empty}&#10;\begin{document}&#10;&#10;&#10;$P(H \mid \text{coin}\hspace{0.1cm}  A)=0.9 \hspace{0.5cm} P(H \mid \text{coin} \hspace{0.1cm} B)=0.1$&#10;&#10;&#10;&#10;\end{document}"/>
  <p:tag name="IGUANATEXSIZE" val="24"/>
  <p:tag name="IGUANATEXCURSOR" val="173"/>
  <p:tag name="TRANSPARENCY" val="True"/>
  <p:tag name="FILENAME" val=""/>
  <p:tag name="INPUTTYPE" val="0"/>
  <p:tag name="LATEXENGINEID" val="0"/>
  <p:tag name="TEMPFOLDER" val="C:\Users\Abhilash S\Documents\temp\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2956.5"/>
  <p:tag name="LATEXADDIN" val="\documentclass{article}&#10;\usepackage{amsmath}&#10;\pagestyle{empty}&#10;\begin{document}&#10;&#10;&#10;$P(\text{toss}\hspace{0.1cm}10=H \mid \text{first} \hspace{0.1cm} 9 \hspace{0.1cm} \text{tosses are}\hspace{0.1cm} H)\neq P(\text{toss} \hspace{0.1cm} 10=H)$&#10;&#10;&#10;&#10;\end{document}"/>
  <p:tag name="IGUANATEXSIZE" val="24"/>
  <p:tag name="IGUANATEXCURSOR" val="237"/>
  <p:tag name="TRANSPARENCY" val="True"/>
  <p:tag name="FILENAME" val=""/>
  <p:tag name="INPUTTYPE" val="0"/>
  <p:tag name="LATEXENGINEID" val="0"/>
  <p:tag name="TEMPFOLDER" val="C:\Users\Abhilash S\Documents\temp\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0"/>
  <p:tag name="ORIGINALWIDTH" val="1740"/>
  <p:tag name="LATEXADDIN" val="\documentclass{article}&#10;\usepackage{amsmath}&#10;\pagestyle{empty}&#10;\begin{document}&#10;$P\left[1^{st} \text{flip} H, 2^{nd} \text{flip} H \right] = P\left[HH\right]$&#10;\end{document}"/>
  <p:tag name="IGUANATEXSIZE" val="24"/>
  <p:tag name="IGUANATEXCURSOR" val="15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223</Words>
  <Application>Microsoft Office PowerPoint</Application>
  <PresentationFormat>On-screen Show (4:3)</PresentationFormat>
  <Paragraphs>53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MS PGothic</vt:lpstr>
      <vt:lpstr>Akzidenz-Grotesk Pro Bold</vt:lpstr>
      <vt:lpstr>Arial</vt:lpstr>
      <vt:lpstr>Calibri</vt:lpstr>
      <vt:lpstr>Office Theme</vt:lpstr>
      <vt:lpstr>1_Office Theme</vt:lpstr>
      <vt:lpstr>2_Office Theme</vt:lpstr>
      <vt:lpstr>3_Office Theme</vt:lpstr>
      <vt:lpstr>Independence of Events</vt:lpstr>
      <vt:lpstr>Independence is Different than Disjointness</vt:lpstr>
      <vt:lpstr>Conditioning May Ruin Independence</vt:lpstr>
      <vt:lpstr>Recall Independence</vt:lpstr>
      <vt:lpstr>Conditioning and Independence</vt:lpstr>
      <vt:lpstr>Conditioning and Independence Cont’</vt:lpstr>
      <vt:lpstr>PowerPoint Presentation</vt:lpstr>
      <vt:lpstr>Independence of a Collection of Events</vt:lpstr>
      <vt:lpstr>Pairwise Independence</vt:lpstr>
      <vt:lpstr>PowerPoint Presentation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Independence</dc:title>
  <dc:creator>Cihan Tepedelenlioglu</dc:creator>
  <cp:lastModifiedBy>Abhilash Sureshbabu</cp:lastModifiedBy>
  <cp:revision>17</cp:revision>
  <dcterms:created xsi:type="dcterms:W3CDTF">2015-06-06T00:24:16Z</dcterms:created>
  <dcterms:modified xsi:type="dcterms:W3CDTF">2016-02-19T00:05:38Z</dcterms:modified>
</cp:coreProperties>
</file>