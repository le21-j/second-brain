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0"/>
  </p:notesMasterIdLst>
  <p:sldIdLst>
    <p:sldId id="257" r:id="rId3"/>
    <p:sldId id="261" r:id="rId4"/>
    <p:sldId id="262" r:id="rId5"/>
    <p:sldId id="258" r:id="rId6"/>
    <p:sldId id="259" r:id="rId7"/>
    <p:sldId id="260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3B3491-B3F6-4D34-9A91-3D6494338B17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2E1496-5D9F-4122-8138-37989592D6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899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02BED5-B6A5-42C0-BD1E-F8A70A63C327}" type="slidenum">
              <a:rPr lang="en-US" smtClean="0">
                <a:solidFill>
                  <a:prstClr val="black"/>
                </a:solidFill>
              </a:rPr>
              <a:pPr/>
              <a:t>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73445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B8A5A-2325-4AB5-90FE-10C0BF4D2D99}" type="slidenum">
              <a:rPr lang="en-US" smtClean="0">
                <a:solidFill>
                  <a:prstClr val="black"/>
                </a:solidFill>
              </a:rPr>
              <a:pPr/>
              <a:t>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17521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56BE3-4390-4469-9E13-8A376630EE6D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8FC4F-68E1-4004-9B17-B7965A74B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924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56BE3-4390-4469-9E13-8A376630EE6D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8FC4F-68E1-4004-9B17-B7965A74B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272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56BE3-4390-4469-9E13-8A376630EE6D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8FC4F-68E1-4004-9B17-B7965A74B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393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56BE3-4390-4469-9E13-8A376630EE6D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8FC4F-68E1-4004-9B17-B7965A74B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595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56BE3-4390-4469-9E13-8A376630EE6D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8FC4F-68E1-4004-9B17-B7965A74B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799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56BE3-4390-4469-9E13-8A376630EE6D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8FC4F-68E1-4004-9B17-B7965A74B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046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56BE3-4390-4469-9E13-8A376630EE6D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8FC4F-68E1-4004-9B17-B7965A74B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447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56BE3-4390-4469-9E13-8A376630EE6D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8FC4F-68E1-4004-9B17-B7965A74B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43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56BE3-4390-4469-9E13-8A376630EE6D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8FC4F-68E1-4004-9B17-B7965A74B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226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56BE3-4390-4469-9E13-8A376630EE6D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8FC4F-68E1-4004-9B17-B7965A74B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942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56BE3-4390-4469-9E13-8A376630EE6D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8FC4F-68E1-4004-9B17-B7965A74B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088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506" y="218907"/>
            <a:ext cx="8578515" cy="1263316"/>
          </a:xfrm>
        </p:spPr>
        <p:txBody>
          <a:bodyPr anchor="b">
            <a:normAutofit/>
          </a:bodyPr>
          <a:lstStyle>
            <a:lvl1pPr algn="ctr">
              <a:lnSpc>
                <a:spcPct val="300000"/>
              </a:lnSpc>
              <a:defRPr sz="480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507" y="1371600"/>
            <a:ext cx="8578514" cy="4463716"/>
          </a:xfrm>
        </p:spPr>
        <p:txBody>
          <a:bodyPr/>
          <a:lstStyle>
            <a:lvl1pPr marL="342900" indent="-342900" algn="l">
              <a:lnSpc>
                <a:spcPct val="200000"/>
              </a:lnSpc>
              <a:buFont typeface="Arial" panose="020B0604020202020204" pitchFamily="34" charset="0"/>
              <a:buChar char="•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C0855-9D9F-4719-AFA7-3353C6AF74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E1CBF-DE0B-42F3-A58B-EED22FEA28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34728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C0855-9D9F-4719-AFA7-3353C6AF74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E1CBF-DE0B-42F3-A58B-EED22FEA28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26001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C0855-9D9F-4719-AFA7-3353C6AF74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E1CBF-DE0B-42F3-A58B-EED22FEA28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60907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C0855-9D9F-4719-AFA7-3353C6AF74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E1CBF-DE0B-42F3-A58B-EED22FEA28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52266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C0855-9D9F-4719-AFA7-3353C6AF74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E1CBF-DE0B-42F3-A58B-EED22FEA28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83981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C0855-9D9F-4719-AFA7-3353C6AF74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E1CBF-DE0B-42F3-A58B-EED22FEA28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51016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C0855-9D9F-4719-AFA7-3353C6AF74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E1CBF-DE0B-42F3-A58B-EED22FEA28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1050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C0855-9D9F-4719-AFA7-3353C6AF74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E1CBF-DE0B-42F3-A58B-EED22FEA28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1431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C0855-9D9F-4719-AFA7-3353C6AF74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E1CBF-DE0B-42F3-A58B-EED22FEA28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15091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C0855-9D9F-4719-AFA7-3353C6AF74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E1CBF-DE0B-42F3-A58B-EED22FEA28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11020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C0855-9D9F-4719-AFA7-3353C6AF74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E1CBF-DE0B-42F3-A58B-EED22FEA28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2172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856BE3-4390-4469-9E13-8A376630EE6D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88FC4F-68E1-4004-9B17-B7965A74B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597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AC0855-9D9F-4719-AFA7-3353C6AF74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DE1CBF-DE0B-42F3-A58B-EED22FEA28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6180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2.png"/><Relationship Id="rId5" Type="http://schemas.openxmlformats.org/officeDocument/2006/relationships/image" Target="../media/image3810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ocw.mit.edu/courses/electrical-engineering-and-computer-science/6-041-probabilistic-systems-analysis-and-applied-probability-fall-2010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creativecommons.org/licenses/by-nc-sa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57200"/>
            <a:ext cx="7772400" cy="1847850"/>
          </a:xfrm>
        </p:spPr>
        <p:txBody>
          <a:bodyPr>
            <a:normAutofit/>
          </a:bodyPr>
          <a:lstStyle/>
          <a:p>
            <a:pPr algn="l"/>
            <a:r>
              <a:rPr kumimoji="0" lang="en-US" sz="3600" b="0" i="0" u="none" strike="noStrike" kern="0" cap="none" spc="0" normalizeH="0" baseline="0" noProof="0" dirty="0" smtClean="0">
                <a:ln>
                  <a:noFill/>
                </a:ln>
                <a:solidFill>
                  <a:srgbClr val="FFB310"/>
                </a:solidFill>
                <a:effectLst/>
                <a:uLnTx/>
                <a:uFillTx/>
                <a:latin typeface="Arial"/>
                <a:ea typeface="MS PGothic" pitchFamily="34" charset="-128"/>
                <a:sym typeface="Akzidenz-Grotesk Pro Bold" charset="0"/>
              </a:rPr>
              <a:t>Geometric</a:t>
            </a:r>
            <a:r>
              <a:rPr kumimoji="0" lang="en-US" sz="3600" b="0" i="0" u="none" strike="noStrike" kern="0" cap="none" spc="0" normalizeH="0" noProof="0" dirty="0" smtClean="0">
                <a:ln>
                  <a:noFill/>
                </a:ln>
                <a:solidFill>
                  <a:srgbClr val="FFB310"/>
                </a:solidFill>
                <a:effectLst/>
                <a:uLnTx/>
                <a:uFillTx/>
                <a:latin typeface="Arial"/>
                <a:ea typeface="MS PGothic" pitchFamily="34" charset="-128"/>
                <a:sym typeface="Akzidenz-Grotesk Pro Bold" charset="0"/>
              </a:rPr>
              <a:t> Sum Formula</a:t>
            </a:r>
            <a:endParaRPr lang="en-US" sz="3600" dirty="0"/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09800"/>
            <a:ext cx="4120732" cy="47383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685799" y="3200400"/>
                <a:ext cx="7963270" cy="23083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 smtClean="0"/>
                  <a:t>Will be useful throughout the class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 smtClean="0"/>
                  <a:t>What happens when |</a:t>
                </a:r>
                <a:r>
                  <a:rPr lang="en-US" sz="2400" i="1" dirty="0" smtClean="0"/>
                  <a:t>r</a:t>
                </a:r>
                <a:r>
                  <a:rPr lang="en-US" sz="2400" dirty="0" smtClean="0"/>
                  <a:t>|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  <a:ea typeface="Cambria Math"/>
                      </a:rPr>
                      <m:t>≥</m:t>
                    </m:r>
                  </m:oMath>
                </a14:m>
                <a:r>
                  <a:rPr lang="en-US" sz="2400" dirty="0" smtClean="0"/>
                  <a:t>1 ?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 smtClean="0"/>
                  <a:t>What happens when we differentiate both sides </a:t>
                </a:r>
                <a:r>
                  <a:rPr lang="en-US" sz="2400" dirty="0" err="1" smtClean="0"/>
                  <a:t>wrt</a:t>
                </a:r>
                <a:r>
                  <a:rPr lang="en-US" sz="2400" dirty="0" smtClean="0"/>
                  <a:t> </a:t>
                </a:r>
                <a:r>
                  <a:rPr lang="en-US" sz="2400" i="1" dirty="0" smtClean="0"/>
                  <a:t>r</a:t>
                </a:r>
                <a:r>
                  <a:rPr lang="en-US" sz="2400" dirty="0" smtClean="0"/>
                  <a:t> ? 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 smtClean="0"/>
                  <a:t>Alternative way: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799" y="3200400"/>
                <a:ext cx="7963270" cy="2308324"/>
              </a:xfrm>
              <a:prstGeom prst="rect">
                <a:avLst/>
              </a:prstGeom>
              <a:blipFill rotWithShape="1">
                <a:blip r:embed="rId5"/>
                <a:stretch>
                  <a:fillRect l="-995" r="-230" b="-2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1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5791200"/>
            <a:ext cx="4120732" cy="457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139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572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8743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57200"/>
            <a:ext cx="7772400" cy="1847850"/>
          </a:xfrm>
        </p:spPr>
        <p:txBody>
          <a:bodyPr>
            <a:normAutofit/>
          </a:bodyPr>
          <a:lstStyle/>
          <a:p>
            <a:pPr algn="l"/>
            <a:r>
              <a:rPr kumimoji="0" lang="en-US" sz="3600" b="0" i="0" u="none" strike="noStrike" kern="0" cap="none" spc="0" normalizeH="0" baseline="0" noProof="0" dirty="0" smtClean="0">
                <a:ln>
                  <a:noFill/>
                </a:ln>
                <a:solidFill>
                  <a:srgbClr val="FFB310"/>
                </a:solidFill>
                <a:effectLst/>
                <a:uLnTx/>
                <a:uFillTx/>
                <a:latin typeface="Arial"/>
                <a:ea typeface="MS PGothic" pitchFamily="34" charset="-128"/>
                <a:sym typeface="Akzidenz-Grotesk Pro Bold" charset="0"/>
              </a:rPr>
              <a:t>Countable Infinity</a:t>
            </a:r>
            <a:endParaRPr lang="en-US" sz="36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057400"/>
            <a:ext cx="7276336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28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57200"/>
            <a:ext cx="7772400" cy="1847850"/>
          </a:xfrm>
        </p:spPr>
        <p:txBody>
          <a:bodyPr>
            <a:normAutofit/>
          </a:bodyPr>
          <a:lstStyle/>
          <a:p>
            <a:pPr algn="l"/>
            <a:r>
              <a:rPr kumimoji="0" lang="en-US" sz="3600" b="0" i="0" u="none" strike="noStrike" kern="0" cap="none" spc="0" normalizeH="0" baseline="0" noProof="0" dirty="0" smtClean="0">
                <a:ln>
                  <a:noFill/>
                </a:ln>
                <a:solidFill>
                  <a:srgbClr val="FFB310"/>
                </a:solidFill>
                <a:effectLst/>
                <a:uLnTx/>
                <a:uFillTx/>
                <a:latin typeface="Arial"/>
                <a:ea typeface="MS PGothic" pitchFamily="34" charset="-128"/>
                <a:sym typeface="Akzidenz-Grotesk Pro Bold" charset="0"/>
              </a:rPr>
              <a:t>Countable Infinity</a:t>
            </a:r>
            <a:r>
              <a:rPr kumimoji="0" lang="en-US" sz="3600" b="0" i="0" u="none" strike="noStrike" kern="0" cap="none" spc="0" normalizeH="0" noProof="0" dirty="0" smtClean="0">
                <a:ln>
                  <a:noFill/>
                </a:ln>
                <a:solidFill>
                  <a:srgbClr val="FFB310"/>
                </a:solidFill>
                <a:effectLst/>
                <a:uLnTx/>
                <a:uFillTx/>
                <a:latin typeface="Arial"/>
                <a:ea typeface="MS PGothic" pitchFamily="34" charset="-128"/>
                <a:sym typeface="Akzidenz-Grotesk Pro Bold" charset="0"/>
              </a:rPr>
              <a:t> </a:t>
            </a:r>
            <a:r>
              <a:rPr kumimoji="0" lang="en-US" sz="3600" b="0" i="0" u="none" strike="noStrike" kern="0" cap="none" spc="0" normalizeH="0" noProof="0" dirty="0" err="1" smtClean="0">
                <a:ln>
                  <a:noFill/>
                </a:ln>
                <a:solidFill>
                  <a:srgbClr val="FFB310"/>
                </a:solidFill>
                <a:effectLst/>
                <a:uLnTx/>
                <a:uFillTx/>
                <a:latin typeface="Arial"/>
                <a:ea typeface="MS PGothic" pitchFamily="34" charset="-128"/>
                <a:sym typeface="Akzidenz-Grotesk Pro Bold" charset="0"/>
              </a:rPr>
              <a:t>Cont</a:t>
            </a:r>
            <a:r>
              <a:rPr kumimoji="0" lang="en-US" sz="3600" b="0" i="0" u="none" strike="noStrike" kern="0" cap="none" spc="0" normalizeH="0" noProof="0" dirty="0" smtClean="0">
                <a:ln>
                  <a:noFill/>
                </a:ln>
                <a:solidFill>
                  <a:srgbClr val="FFB310"/>
                </a:solidFill>
                <a:effectLst/>
                <a:uLnTx/>
                <a:uFillTx/>
                <a:latin typeface="Arial"/>
                <a:ea typeface="MS PGothic" pitchFamily="34" charset="-128"/>
                <a:sym typeface="Akzidenz-Grotesk Pro Bold" charset="0"/>
              </a:rPr>
              <a:t>’</a:t>
            </a:r>
            <a:endParaRPr lang="en-US" sz="3600" dirty="0"/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2351991"/>
            <a:ext cx="1689419" cy="287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0271" y="2286000"/>
            <a:ext cx="7711919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prstClr val="black"/>
                </a:solidFill>
              </a:rPr>
              <a:t>Can verify                                   using the geometric sum formula (</a:t>
            </a:r>
            <a:r>
              <a:rPr lang="en-US" sz="2000" i="1" dirty="0" smtClean="0">
                <a:solidFill>
                  <a:prstClr val="black"/>
                </a:solidFill>
              </a:rPr>
              <a:t>r</a:t>
            </a:r>
            <a:r>
              <a:rPr lang="en-US" sz="2000" dirty="0" smtClean="0">
                <a:solidFill>
                  <a:prstClr val="black"/>
                </a:solidFill>
              </a:rPr>
              <a:t>=1/2)</a:t>
            </a:r>
          </a:p>
          <a:p>
            <a:pPr>
              <a:lnSpc>
                <a:spcPct val="200000"/>
              </a:lnSpc>
            </a:pPr>
            <a:endParaRPr lang="en-US" sz="2000" dirty="0">
              <a:solidFill>
                <a:prstClr val="black"/>
              </a:solidFill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prstClr val="black"/>
                </a:solidFill>
              </a:rPr>
              <a:t>Even outcome probability can be verified using same formula (</a:t>
            </a:r>
            <a:r>
              <a:rPr lang="en-US" sz="2000" i="1" dirty="0" smtClean="0">
                <a:solidFill>
                  <a:prstClr val="black"/>
                </a:solidFill>
              </a:rPr>
              <a:t>r</a:t>
            </a:r>
            <a:r>
              <a:rPr lang="en-US" sz="2000" dirty="0" smtClean="0">
                <a:solidFill>
                  <a:prstClr val="black"/>
                </a:solidFill>
              </a:rPr>
              <a:t>=1/4)</a:t>
            </a:r>
            <a:endParaRPr lang="en-US" sz="2000" dirty="0">
              <a:solidFill>
                <a:prstClr val="black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74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dirty="0" smtClean="0"/>
              <a:t>Odd Outcome Probability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    </a:t>
            </a:r>
          </a:p>
          <a:p>
            <a:r>
              <a:rPr lang="en-US" dirty="0" smtClean="0"/>
              <a:t>Another way: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1" y="1701800"/>
            <a:ext cx="6554419" cy="37124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1" y="3225800"/>
            <a:ext cx="6040525" cy="2062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854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Acknowledgements and Citations</a:t>
            </a:r>
            <a:endParaRPr lang="en-US" sz="3600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57381" y="1676400"/>
            <a:ext cx="69549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prstClr val="black"/>
                </a:solidFill>
                <a:cs typeface="Arial" panose="020B0604020202020204" pitchFamily="34" charset="0"/>
              </a:rPr>
              <a:t>Parts of these slides are adapted from the following resources: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711" y="3048000"/>
            <a:ext cx="695498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prstClr val="black"/>
                </a:solidFill>
              </a:rPr>
              <a:t>Power Point Lecture Slides for the Textbook </a:t>
            </a:r>
            <a:r>
              <a:rPr lang="en-US" sz="2000" dirty="0" smtClean="0">
                <a:solidFill>
                  <a:prstClr val="black"/>
                </a:solidFill>
              </a:rPr>
              <a:t>http</a:t>
            </a:r>
            <a:r>
              <a:rPr lang="en-US" sz="2000" dirty="0">
                <a:solidFill>
                  <a:prstClr val="black"/>
                </a:solidFill>
              </a:rPr>
              <a:t>://</a:t>
            </a:r>
            <a:r>
              <a:rPr lang="en-US" sz="2000" dirty="0" smtClean="0">
                <a:solidFill>
                  <a:prstClr val="black"/>
                </a:solidFill>
              </a:rPr>
              <a:t>bcs.wiley.com/hebcs/Books?action=index&amp;bcsId=8676&amp;itemId=1118324560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prstClr val="black"/>
                </a:solidFill>
              </a:rPr>
              <a:t>John </a:t>
            </a:r>
            <a:r>
              <a:rPr lang="en-US" sz="2000" dirty="0" err="1">
                <a:solidFill>
                  <a:prstClr val="black"/>
                </a:solidFill>
              </a:rPr>
              <a:t>Tsitsiklis</a:t>
            </a:r>
            <a:r>
              <a:rPr lang="en-US" sz="2000" dirty="0">
                <a:solidFill>
                  <a:prstClr val="black"/>
                </a:solidFill>
              </a:rPr>
              <a:t>. </a:t>
            </a:r>
            <a:r>
              <a:rPr lang="en-US" sz="2000" i="1" dirty="0">
                <a:solidFill>
                  <a:prstClr val="black"/>
                </a:solidFill>
              </a:rPr>
              <a:t>6.041 Probabilistic Systems Analysis and Applied Probability, Fall 2010</a:t>
            </a:r>
            <a:r>
              <a:rPr lang="en-US" sz="2000" dirty="0">
                <a:solidFill>
                  <a:prstClr val="black"/>
                </a:solidFill>
              </a:rPr>
              <a:t>. (Massachusetts Institute of Technology: </a:t>
            </a:r>
            <a:r>
              <a:rPr lang="en-US" sz="2000" dirty="0" smtClean="0">
                <a:solidFill>
                  <a:prstClr val="black"/>
                </a:solidFill>
              </a:rPr>
              <a:t>MIT </a:t>
            </a:r>
            <a:r>
              <a:rPr lang="en-US" sz="2000" dirty="0" err="1" smtClean="0">
                <a:solidFill>
                  <a:prstClr val="black"/>
                </a:solidFill>
              </a:rPr>
              <a:t>OpenCourseWare</a:t>
            </a:r>
            <a:r>
              <a:rPr lang="en-US" sz="2000" dirty="0">
                <a:solidFill>
                  <a:prstClr val="black"/>
                </a:solidFill>
              </a:rPr>
              <a:t>),</a:t>
            </a:r>
            <a:r>
              <a:rPr lang="en-US" sz="2000" dirty="0">
                <a:solidFill>
                  <a:prstClr val="black"/>
                </a:solidFill>
                <a:hlinkClick r:id="rId3"/>
              </a:rPr>
              <a:t>http://ocw.mit.edu</a:t>
            </a:r>
            <a:r>
              <a:rPr lang="en-US" sz="2000" dirty="0">
                <a:solidFill>
                  <a:prstClr val="black"/>
                </a:solidFill>
              </a:rPr>
              <a:t> (Accessed 13 Apr, 2015). License: </a:t>
            </a:r>
            <a:r>
              <a:rPr lang="en-US" sz="2000" dirty="0">
                <a:solidFill>
                  <a:prstClr val="black"/>
                </a:solidFill>
                <a:hlinkClick r:id="rId4"/>
              </a:rPr>
              <a:t>Creative Commons </a:t>
            </a:r>
            <a:r>
              <a:rPr lang="en-US" sz="2000" dirty="0" smtClean="0">
                <a:solidFill>
                  <a:prstClr val="black"/>
                </a:solidFill>
                <a:hlinkClick r:id="rId4"/>
              </a:rPr>
              <a:t>BY-NC-SA</a:t>
            </a:r>
            <a:endParaRPr lang="en-US" sz="2000" dirty="0">
              <a:solidFill>
                <a:prstClr val="black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prstClr val="black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3308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50.75"/>
  <p:tag name="ORIGINALWIDTH" val="1311"/>
  <p:tag name="LATEXADDIN" val="\documentclass{article}&#10;\usepackage{amsmath}&#10;\pagestyle{empty}&#10;\begin{document}&#10;$\sum_{n=0}^\infty r^n = \frac{1}{1-r} \;\;, |r|&lt;1$&#10;\end{document}"/>
  <p:tag name="IGUANATEXSIZE" val="20"/>
  <p:tag name="IGUANATEXCURSOR" val="13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45.5"/>
  <p:tag name="ORIGINALWIDTH" val="1311"/>
  <p:tag name="LATEXADDIN" val="\documentclass{article}&#10;\usepackage{amsmath}&#10;\pagestyle{empty}&#10;\begin{document}&#10;$\sum_{n=1}^\infty r^n = \frac{r}{1-r} \;\;, |r|&lt;1$&#10;\end{document}"/>
  <p:tag name="IGUANATEXSIZE" val="20"/>
  <p:tag name="IGUANATEXCURSOR" val="11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41"/>
  <p:tag name="ORIGINALWIDTH" val="827.25"/>
  <p:tag name="LATEXADDIN" val="\documentclass{article}&#10;\usepackage{amsmath}&#10;\pagestyle{empty}&#10;\begin{document}&#10;$\sum_{n=0}^\infty {\bf P}(n) = 1$&#10;\end{document}"/>
  <p:tag name="IGUANATEXSIZE" val="20"/>
  <p:tag name="IGUANATEXCURSOR" val="11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52.25"/>
  <p:tag name="ORIGINALWIDTH" val="2688"/>
  <p:tag name="LATEXADDIN" val="\documentclass{article}&#10;\usepackage{amsmath}&#10;\pagestyle{empty}&#10;\begin{document}&#10;&#10;&#10;$P(\text{outcome is odd})=1-P(\text{outcome is even})=\frac{2}{3}$&#10;&#10;&#10;&#10;\end{document}"/>
  <p:tag name="IGUANATEXSIZE" val="24"/>
  <p:tag name="IGUANATEXCURSOR" val="147"/>
  <p:tag name="TRANSPARENCY" val="True"/>
  <p:tag name="FILENAME" val=""/>
  <p:tag name="INPUTTYPE" val="0"/>
  <p:tag name="LATEXENGINEID" val="0"/>
  <p:tag name="TEMPFOLDER" val="C:\Users\Abhilash S\Documents\temp\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46"/>
  <p:tag name="ORIGINALWIDTH" val="2477.25"/>
  <p:tag name="LATEXADDIN" val="\documentclass{article}&#10;\usepackage{amsmath}&#10;\pagestyle{empty}&#10;\begin{document}&#10;&#10;&#10;$\begin{aligned}&#10;               P(\text{outcome is odd})&amp;=2^{-1}+2^{-3}+2^{-5}+...\\&#10;               &amp;=2(2^{-2}+2^{-4}+2^{-6}+...)\\&#10;               &amp;=2 P(\text{outcome is even})\\&#10;               &amp;=\frac{2}{3}&#10;  \end{aligned}$&#10;&#10;&#10;&#10;\end{document}"/>
  <p:tag name="IGUANATEXSIZE" val="24"/>
  <p:tag name="IGUANATEXCURSOR" val="288"/>
  <p:tag name="TRANSPARENCY" val="True"/>
  <p:tag name="FILENAME" val=""/>
  <p:tag name="INPUTTYPE" val="0"/>
  <p:tag name="LATEXENGINEID" val="0"/>
  <p:tag name="TEMPFOLDER" val="C:\Users\Abhilash S\Documents\temp\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99</Words>
  <Application>Microsoft Office PowerPoint</Application>
  <PresentationFormat>On-screen Show (4:3)</PresentationFormat>
  <Paragraphs>23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MS PGothic</vt:lpstr>
      <vt:lpstr>Akzidenz-Grotesk Pro Bold</vt:lpstr>
      <vt:lpstr>Arial</vt:lpstr>
      <vt:lpstr>Calibri</vt:lpstr>
      <vt:lpstr>Cambria Math</vt:lpstr>
      <vt:lpstr>Office Theme</vt:lpstr>
      <vt:lpstr>1_Office Theme</vt:lpstr>
      <vt:lpstr>Geometric Sum Formula</vt:lpstr>
      <vt:lpstr>PowerPoint Presentation</vt:lpstr>
      <vt:lpstr>PowerPoint Presentation</vt:lpstr>
      <vt:lpstr>Countable Infinity</vt:lpstr>
      <vt:lpstr>Countable Infinity Cont’</vt:lpstr>
      <vt:lpstr>Odd Outcome Probability</vt:lpstr>
      <vt:lpstr>Acknowledgements and Citations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Geometric Sum Formula</dc:title>
  <dc:creator>Cihan Tepedelenlioglu</dc:creator>
  <cp:lastModifiedBy>Abhilash Sureshbabu</cp:lastModifiedBy>
  <cp:revision>5</cp:revision>
  <dcterms:created xsi:type="dcterms:W3CDTF">2015-06-06T00:21:41Z</dcterms:created>
  <dcterms:modified xsi:type="dcterms:W3CDTF">2016-02-19T00:04:19Z</dcterms:modified>
</cp:coreProperties>
</file>