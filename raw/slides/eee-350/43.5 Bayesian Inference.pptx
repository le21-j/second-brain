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7" r:id="rId3"/>
    <p:sldId id="258" r:id="rId4"/>
    <p:sldId id="264" r:id="rId5"/>
    <p:sldId id="265" r:id="rId6"/>
    <p:sldId id="268" r:id="rId7"/>
    <p:sldId id="263" r:id="rId8"/>
    <p:sldId id="260" r:id="rId9"/>
    <p:sldId id="262" r:id="rId10"/>
    <p:sldId id="266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A83BF-5D4F-4AC8-A2E2-7DD810D1E4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6E1B1-112A-4BC3-B8EB-0E7DB8DBF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2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88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0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6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5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6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4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6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1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2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png"/><Relationship Id="rId2" Type="http://schemas.openxmlformats.org/officeDocument/2006/relationships/tags" Target="../tags/tag2.xml"/><Relationship Id="rId16" Type="http://schemas.openxmlformats.org/officeDocument/2006/relationships/image" Target="../media/image1.png"/><Relationship Id="rId20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8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1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Introduction to Bayesian Inference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5506" y="3505200"/>
            <a:ext cx="729494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</a:t>
            </a:r>
            <a:r>
              <a:rPr lang="en-US" sz="2000" dirty="0" smtClean="0"/>
              <a:t>he unknown is random (i.e., has a prior distribution)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We are given the “model”                         and the “prior”               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 model produces the “observation” for a given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So we know the “observation”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We want to infer about       by doing something 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It is a function of      we want to design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1628351" y="2694328"/>
            <a:ext cx="1376681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97829" y="2694328"/>
            <a:ext cx="1376681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5" idx="1"/>
          </p:cNvCxnSpPr>
          <p:nvPr/>
        </p:nvCxnSpPr>
        <p:spPr>
          <a:xfrm>
            <a:off x="935810" y="2922928"/>
            <a:ext cx="692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5" idx="0"/>
          </p:cNvCxnSpPr>
          <p:nvPr/>
        </p:nvCxnSpPr>
        <p:spPr>
          <a:xfrm>
            <a:off x="2316691" y="2091777"/>
            <a:ext cx="1" cy="602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11" idx="1"/>
          </p:cNvCxnSpPr>
          <p:nvPr/>
        </p:nvCxnSpPr>
        <p:spPr>
          <a:xfrm>
            <a:off x="3005032" y="2922928"/>
            <a:ext cx="13927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3"/>
          </p:cNvCxnSpPr>
          <p:nvPr/>
        </p:nvCxnSpPr>
        <p:spPr>
          <a:xfrm>
            <a:off x="5774510" y="2922928"/>
            <a:ext cx="75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775" y="2591245"/>
            <a:ext cx="202997" cy="2194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407" y="2640411"/>
            <a:ext cx="245059" cy="20848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581" y="2618642"/>
            <a:ext cx="202997" cy="29443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413" y="1988450"/>
            <a:ext cx="257861" cy="2066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66" y="2807044"/>
            <a:ext cx="1084631" cy="1978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248" y="2767834"/>
            <a:ext cx="1324051" cy="33649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549" y="4104105"/>
            <a:ext cx="1173835" cy="29832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299" y="5060212"/>
            <a:ext cx="245059" cy="20848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951" y="5486400"/>
            <a:ext cx="202997" cy="2194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104105"/>
            <a:ext cx="716890" cy="303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098846"/>
            <a:ext cx="746151" cy="30358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578" y="4572000"/>
            <a:ext cx="202997" cy="21945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546" y="5497373"/>
            <a:ext cx="245059" cy="20848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195" y="6019799"/>
            <a:ext cx="245059" cy="20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Detection vs Estimation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4466" y="1524000"/>
            <a:ext cx="6279540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When the unknown </a:t>
            </a:r>
            <a:r>
              <a:rPr lang="en-US" sz="2000" dirty="0" err="1" smtClean="0"/>
              <a:t>param</a:t>
            </a:r>
            <a:r>
              <a:rPr lang="en-US" sz="2000" dirty="0" smtClean="0"/>
              <a:t> is discrete, we have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“Detection”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“Hypothesis testing”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Can talk about “error” vs “no error”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Interested in the probability of error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When unknown </a:t>
            </a:r>
            <a:r>
              <a:rPr lang="en-US" sz="2000" dirty="0" err="1" smtClean="0"/>
              <a:t>param</a:t>
            </a:r>
            <a:r>
              <a:rPr lang="en-US" sz="2000" dirty="0" smtClean="0"/>
              <a:t>. is continuous we have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“Estimation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Error is not binary, and has magnitude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Interested in an error metric that takes magnitude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 </a:t>
            </a:r>
            <a:r>
              <a:rPr lang="en-US" sz="2000" dirty="0" smtClean="0"/>
              <a:t>     into account (e.g. MSE)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489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Bayesian Hypothesis Testing 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1524000"/>
            <a:ext cx="61370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Means theta is discrete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If data is discrete we infer using this “posterior” PMF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866" y="2491957"/>
            <a:ext cx="4953000" cy="943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62000" y="3733800"/>
            <a:ext cx="63482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If data is continuous we infer using this posterior PMF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5423882"/>
            <a:ext cx="7941533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For single answer, one can maximize (max. </a:t>
            </a:r>
            <a:r>
              <a:rPr lang="en-US" sz="2000" dirty="0" err="1" smtClean="0"/>
              <a:t>aposteriori</a:t>
            </a:r>
            <a:r>
              <a:rPr lang="en-US" sz="2000" dirty="0" smtClean="0"/>
              <a:t> detection)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dirty="0" smtClean="0"/>
              <a:t>function </a:t>
            </a:r>
            <a:r>
              <a:rPr lang="en-US" sz="2000" dirty="0"/>
              <a:t>that takes obs. and outputs a value for </a:t>
            </a:r>
            <a:r>
              <a:rPr lang="en-US" sz="2000" dirty="0" smtClean="0"/>
              <a:t>theta (i.e., a detector)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349" y="4432945"/>
            <a:ext cx="4486033" cy="9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89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Bayesian Hypothesis Testing 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Consider MAP detection of antipodal signaling under AWGN with unequal priors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Our goal: Find a function of </a:t>
            </a:r>
            <a:r>
              <a:rPr lang="en-US" sz="2000" i="1" dirty="0" smtClean="0"/>
              <a:t>X</a:t>
            </a:r>
            <a:r>
              <a:rPr lang="en-US" sz="2000" dirty="0" smtClean="0"/>
              <a:t> that determines if                or  </a:t>
            </a:r>
          </a:p>
          <a:p>
            <a:r>
              <a:rPr lang="en-US" sz="2000" dirty="0" smtClean="0"/>
              <a:t>MAP detection offers such a function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636520"/>
            <a:ext cx="1290828" cy="1981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124200"/>
            <a:ext cx="626364" cy="1828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3124200"/>
            <a:ext cx="824484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9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3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22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MAP Minimizes Prob. of Error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" y="1524000"/>
            <a:ext cx="83001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Often we want to minimize the error probability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By choosing an appropriate detector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Recall “detector” is a function that takes obs. and outputs a value for theta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 prob. of error is a measure of how good the detector 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It turns out that the MAP decision rule minimizes this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How would we calculate this error prob. in simulation?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423" y="2362200"/>
            <a:ext cx="1447800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9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Bayesian Estimation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1524000"/>
            <a:ext cx="32855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Means theta is continuous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77536" y="2667000"/>
            <a:ext cx="8024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If obs. data is also continuous we infer using the “posterior” distribution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81400"/>
            <a:ext cx="4495800" cy="97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30928" y="4953000"/>
            <a:ext cx="490525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For single answer, one can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Maximize </a:t>
            </a:r>
            <a:r>
              <a:rPr lang="en-US" sz="2000" dirty="0" err="1" smtClean="0"/>
              <a:t>wrt</a:t>
            </a:r>
            <a:r>
              <a:rPr lang="en-US" sz="2000" dirty="0" smtClean="0"/>
              <a:t> theta (MAP Estimation)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OR, find the conditional mean 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2652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LMS Estimation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" y="1524000"/>
            <a:ext cx="5364482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Often we want to minimize the squared error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Over a function (“estimator”)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This is a measure of how good the estimator 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It turns out that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95" y="2209800"/>
            <a:ext cx="2287521" cy="50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416" y="2971800"/>
            <a:ext cx="64970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496" y="4847987"/>
            <a:ext cx="4876337" cy="85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706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0" dirty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LMS Estimation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Consider LMS estimation in the (jointly) Gaussian case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The LMS estimator is linear!</a:t>
            </a:r>
          </a:p>
          <a:p>
            <a:r>
              <a:rPr lang="en-US" sz="2000" dirty="0" smtClean="0"/>
              <a:t>The LMS estimator the same as the MAP estimator in this case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38400"/>
            <a:ext cx="60388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4072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7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83.25"/>
  <p:tag name="LATEXADDIN" val="\documentclass{article}&#10;\usepackage{amsmath}&#10;\pagestyle{empty}&#10;\begin{document}&#10;&#10;&#10;$\Theta$&#10;&#10;&#10;&#10;\end{document}"/>
  <p:tag name="IGUANATEXSIZE" val="24"/>
  <p:tag name="IGUANATEXCURSOR" val="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100.5"/>
  <p:tag name="LATEXADDIN" val="\documentclass{article}&#10;\usepackage{amsmath}&#10;\pagestyle{empty}&#10;\begin{document}&#10;&#10;&#10;${\bf X}$&#10;&#10;&#10;&#10;\end{document}"/>
  <p:tag name="IGUANATEXSIZE" val="24"/>
  <p:tag name="IGUANATEXCURSOR" val="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.75"/>
  <p:tag name="ORIGINALWIDTH" val="83.25"/>
  <p:tag name="LATEXADDIN" val="\documentclass{article}&#10;\usepackage{amsmath}&#10;\pagestyle{empty}&#10;\begin{document}&#10;&#10;&#10;$\hat\Theta$&#10;&#10;&#10;&#10;\end{document}"/>
  <p:tag name="IGUANATEXSIZE" val="24"/>
  <p:tag name="IGUANATEXCURSOR" val="8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5.75"/>
  <p:tag name="LATEXADDIN" val="\documentclass{article}&#10;\usepackage{amsmath}&#10;\pagestyle{empty}&#10;\begin{document}&#10;&#10;&#10;$N$&#10;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485.25"/>
  <p:tag name="LATEXADDIN" val="\documentclass{article}&#10;\usepackage{amsmath}&#10;\pagestyle{empty}&#10;\begin{document}&#10;&#10;&#10;$\text{Inference}$&#10;&#10;&#10;&#10;\end{document}"/>
  <p:tag name="IGUANATEXSIZE" val="22"/>
  <p:tag name="IGUANATEXCURSOR" val="9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543"/>
  <p:tag name="LATEXADDIN" val="\documentclass{article}&#10;\usepackage{amsmath}&#10;\pagestyle{empty}&#10;\begin{document}&#10;&#10;&#10;$f_{\textbf{X}|\Theta}(\textbf{x}|\Theta)$&#10;&#10;&#10;&#10;\end{document}"/>
  <p:tag name="IGUANATEXSIZE" val="24"/>
  <p:tag name="IGUANATEXCURSOR" val="1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543"/>
  <p:tag name="LATEXADDIN" val="\documentclass{article}&#10;\usepackage{amsmath}&#10;\pagestyle{empty}&#10;\begin{document}&#10;&#10;&#10;$f_{\textbf{X}|\Theta}(\textbf{x}|\Theta)$&#10;&#10;&#10;&#10;\end{document}"/>
  <p:tag name="IGUANATEXSIZE" val="24"/>
  <p:tag name="IGUANATEXCURSOR" val="11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100.5"/>
  <p:tag name="LATEXADDIN" val="\documentclass{article}&#10;\usepackage{amsmath}&#10;\pagestyle{empty}&#10;\begin{document}&#10;&#10;&#10;${\bf X}$&#10;&#10;&#10;&#10;\end{document}"/>
  <p:tag name="IGUANATEXSIZE" val="24"/>
  <p:tag name="IGUANATEXCURSOR" val="9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83.25"/>
  <p:tag name="LATEXADDIN" val="\documentclass{article}&#10;\usepackage{amsmath}&#10;\pagestyle{empty}&#10;\begin{document}&#10;&#10;&#10;$\Theta$&#10;&#10;&#10;&#10;\end{document}"/>
  <p:tag name="IGUANATEXSIZE" val="24"/>
  <p:tag name="IGUANATEXCURSOR" val="8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294"/>
  <p:tag name="LATEXADDIN" val="\documentclass{article}&#10;\usepackage{amsmath}&#10;\pagestyle{empty}&#10;\begin{document}&#10;&#10;&#10;$f_{\Theta}(x)$&#10;&#10;&#10;&#10;\end{document}"/>
  <p:tag name="IGUANATEXSIZE" val="24"/>
  <p:tag name="IGUANATEXCURSOR" val="9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06"/>
  <p:tag name="LATEXADDIN" val="\documentclass{article}&#10;\usepackage{amsmath}&#10;\pagestyle{empty}&#10;\begin{document}&#10;&#10;&#10;$p_{\Theta}(x)$&#10;&#10;&#10;&#10;\end{document}"/>
  <p:tag name="IGUANATEXSIZE" val="24"/>
  <p:tag name="IGUANATEXCURSOR" val="9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83.25"/>
  <p:tag name="LATEXADDIN" val="\documentclass{article}&#10;\usepackage{amsmath}&#10;\pagestyle{empty}&#10;\begin{document}&#10;&#10;&#10;$\Theta$&#10;&#10;&#10;&#10;\end{document}"/>
  <p:tag name="IGUANATEXSIZE" val="24"/>
  <p:tag name="IGUANATEXCURSOR" val="8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100.5"/>
  <p:tag name="LATEXADDIN" val="\documentclass{article}&#10;\usepackage{amsmath}&#10;\pagestyle{empty}&#10;\begin{document}&#10;&#10;&#10;${\bf X}$&#10;&#10;&#10;&#10;\end{document}"/>
  <p:tag name="IGUANATEXSIZE" val="24"/>
  <p:tag name="IGUANATEXCURSOR" val="9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100.5"/>
  <p:tag name="LATEXADDIN" val="\documentclass{article}&#10;\usepackage{amsmath}&#10;\pagestyle{empty}&#10;\begin{document}&#10;&#10;&#10;${\bf X}$&#10;&#10;&#10;&#10;\end{document}"/>
  <p:tag name="IGUANATEXSIZE" val="24"/>
  <p:tag name="IGUANATEXCURSOR" val="9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7.5"/>
  <p:tag name="ORIGINALWIDTH" val="635.25"/>
  <p:tag name="LATEXADDIN" val="\documentclass{article}&#10;\usepackage{amsmath}&#10;\pagestyle{empty}&#10;\begin{document}&#10;$$X = \Theta + N$$&#10;\end{document}"/>
  <p:tag name="IGUANATEXSIZE" val="20"/>
  <p:tag name="IGUANATEXCURSOR" val="9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308.25"/>
  <p:tag name="LATEXADDIN" val="\documentclass{article}&#10;\usepackage{amsmath}&#10;\pagestyle{empty}&#10;\begin{document}&#10;$$\Theta = 1$$&#10;\end{document}"/>
  <p:tag name="IGUANATEXSIZE" val="20"/>
  <p:tag name="IGUANATEXCURSOR" val="9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405.75"/>
  <p:tag name="LATEXADDIN" val="\documentclass{article}&#10;\usepackage{amsmath}&#10;\pagestyle{empty}&#10;\begin{document}&#10;$$\Theta = -1$$&#10;\end{document}"/>
  <p:tag name="IGUANATEXSIZE" val="20"/>
  <p:tag name="IGUANATEXCURSOR" val="9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8.5"/>
  <p:tag name="ORIGINALWIDTH" val="712.5"/>
  <p:tag name="LATEXADDIN" val="\documentclass{article}&#10;\usepackage{amsmath}&#10;\pagestyle{empty}&#10;\begin{document}&#10;$$P[\hat\Theta({\bf X}) \neq \Theta]$$&#10;\end{document}"/>
  <p:tag name="IGUANATEXSIZE" val="20"/>
  <p:tag name="IGUANATEXCURSOR" val="10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438</Words>
  <Application>Microsoft Office PowerPoint</Application>
  <PresentationFormat>On-screen Show (4:3)</PresentationFormat>
  <Paragraphs>79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MS PGothic</vt:lpstr>
      <vt:lpstr>Akzidenz-Grotesk Pro Bold</vt:lpstr>
      <vt:lpstr>Arial</vt:lpstr>
      <vt:lpstr>Calibri</vt:lpstr>
      <vt:lpstr>Office Theme</vt:lpstr>
      <vt:lpstr>Introduction to Bayesian Inference</vt:lpstr>
      <vt:lpstr>Detection vs Estimation</vt:lpstr>
      <vt:lpstr>Bayesian Hypothesis Testing </vt:lpstr>
      <vt:lpstr>Bayesian Hypothesis Testing Example</vt:lpstr>
      <vt:lpstr>PowerPoint Presentation</vt:lpstr>
      <vt:lpstr>PowerPoint Presentation</vt:lpstr>
      <vt:lpstr>MAP Minimizes Prob. of Error</vt:lpstr>
      <vt:lpstr>Bayesian Estimation</vt:lpstr>
      <vt:lpstr>LMS Estimation</vt:lpstr>
      <vt:lpstr>LMS Estimation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35</cp:revision>
  <dcterms:created xsi:type="dcterms:W3CDTF">2015-06-06T00:56:43Z</dcterms:created>
  <dcterms:modified xsi:type="dcterms:W3CDTF">2016-02-19T00:38:34Z</dcterms:modified>
</cp:coreProperties>
</file>