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2"/>
  </p:notesMasterIdLst>
  <p:sldIdLst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B2998-14F7-45D1-8BB1-5E4EEF59A33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88706-6649-4C1A-8BC5-30F3CBFC5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1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25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40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3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33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2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1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2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5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44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5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75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0"/>
            <a:ext cx="6858000" cy="1007226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98145"/>
            <a:ext cx="6858000" cy="4913897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992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878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159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985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94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0227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89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075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767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5335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421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0"/>
            <a:ext cx="6858000" cy="1007226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98145"/>
            <a:ext cx="6858000" cy="4913897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440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78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020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4409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8862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5419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757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6360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440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3971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05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68952-9A97-425B-B85F-58B9C8B4E6C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852BF-967A-4786-ACAF-E3C6333A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2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43AF-56AF-476C-8127-1E36D80C146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6306-94AF-4FDD-A05C-A3B778A081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95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43AF-56AF-476C-8127-1E36D80C146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6306-94AF-4FDD-A05C-A3B778A081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26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58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Derived RVs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199" y="4114800"/>
            <a:ext cx="366712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72" y="4419600"/>
            <a:ext cx="4391458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2698" y="1524000"/>
            <a:ext cx="5707203" cy="2343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PMF or PDF of a function of one or more RVs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Some texts categorize in terms of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How many RVs involved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Continuous vs discrete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Example below is for two RVs, continuous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7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58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Derived RVs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981200"/>
            <a:ext cx="682911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Do not need to find the distribution to compute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Expectations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Variances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Moments etc.</a:t>
            </a:r>
          </a:p>
        </p:txBody>
      </p:sp>
    </p:spTree>
    <p:extLst>
      <p:ext uri="{BB962C8B-B14F-4D97-AF65-F5344CB8AC3E}">
        <p14:creationId xmlns:p14="http://schemas.microsoft.com/office/powerpoint/2010/main" val="185553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Discrete Case: One RV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280" y="1676400"/>
            <a:ext cx="334327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52650"/>
            <a:ext cx="2476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589" y="2152650"/>
            <a:ext cx="42957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589" y="4162425"/>
            <a:ext cx="32385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735" y="100586"/>
            <a:ext cx="8483600" cy="113004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Discrete Case: One RV(Example)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828800"/>
            <a:ext cx="7010400" cy="4283242"/>
          </a:xfrm>
        </p:spPr>
        <p:txBody>
          <a:bodyPr/>
          <a:lstStyle/>
          <a:p>
            <a:r>
              <a:rPr lang="en-US" dirty="0" smtClean="0"/>
              <a:t>   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 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1" y="1882374"/>
            <a:ext cx="6411773" cy="303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1" y="2257374"/>
            <a:ext cx="3220517" cy="3712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1" y="2788328"/>
            <a:ext cx="1022300" cy="2523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1" y="3109395"/>
            <a:ext cx="3909974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6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Discrete Case: Two RVs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0"/>
            <a:ext cx="42862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794050"/>
            <a:ext cx="6762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2794050"/>
            <a:ext cx="10096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1863213"/>
            <a:ext cx="3817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Similar to the single RV case: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17908" y="5562600"/>
            <a:ext cx="66709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Functions of more than 2 RV case can be similarly obtained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5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0337800" cy="1181100"/>
          </a:xfrm>
        </p:spPr>
        <p:txBody>
          <a:bodyPr>
            <a:normAutofit/>
          </a:bodyPr>
          <a:lstStyle/>
          <a:p>
            <a:pPr algn="l"/>
            <a:r>
              <a:rPr lang="en-US" sz="4400" dirty="0" smtClean="0"/>
              <a:t>Discrete Case: Two RVs(Example)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574800"/>
            <a:ext cx="6858000" cy="4537242"/>
          </a:xfrm>
        </p:spPr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95450"/>
            <a:ext cx="5155387" cy="497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0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100" y="483061"/>
            <a:ext cx="8318500" cy="1007226"/>
          </a:xfrm>
        </p:spPr>
        <p:txBody>
          <a:bodyPr>
            <a:noAutofit/>
          </a:bodyPr>
          <a:lstStyle/>
          <a:p>
            <a:pPr algn="l"/>
            <a:r>
              <a:rPr lang="en-US" dirty="0" smtClean="0"/>
              <a:t>Discrete Case: Two RVs (Example) </a:t>
            </a:r>
            <a:r>
              <a:rPr lang="en-US" dirty="0" err="1" smtClean="0"/>
              <a:t>Cont</a:t>
            </a:r>
            <a:r>
              <a:rPr lang="en-US" dirty="0" smtClean="0"/>
              <a:t>’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41500"/>
            <a:ext cx="4603090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Power Point Lecture Slides for the Textbook </a:t>
            </a:r>
            <a:r>
              <a:rPr lang="en-US" sz="2000" dirty="0" smtClean="0">
                <a:solidFill>
                  <a:prstClr val="black"/>
                </a:solidFill>
              </a:rPr>
              <a:t>http</a:t>
            </a:r>
            <a:r>
              <a:rPr lang="en-US" sz="2000" dirty="0">
                <a:solidFill>
                  <a:prstClr val="black"/>
                </a:solidFill>
              </a:rPr>
              <a:t>://</a:t>
            </a:r>
            <a:r>
              <a:rPr lang="en-US" sz="2000" dirty="0" smtClean="0">
                <a:solidFill>
                  <a:prstClr val="black"/>
                </a:solidFill>
              </a:rPr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John </a:t>
            </a:r>
            <a:r>
              <a:rPr lang="en-US" sz="2000" dirty="0" err="1">
                <a:solidFill>
                  <a:prstClr val="black"/>
                </a:solidFill>
              </a:rPr>
              <a:t>Tsitsiklis</a:t>
            </a:r>
            <a:r>
              <a:rPr lang="en-US" sz="2000" dirty="0">
                <a:solidFill>
                  <a:prstClr val="black"/>
                </a:solidFill>
              </a:rPr>
              <a:t>. </a:t>
            </a:r>
            <a:r>
              <a:rPr lang="en-US" sz="2000" i="1" dirty="0">
                <a:solidFill>
                  <a:prstClr val="black"/>
                </a:solidFill>
              </a:rPr>
              <a:t>6.041 Probabilistic Systems Analysis and Applied Probability, Fall 2010</a:t>
            </a:r>
            <a:r>
              <a:rPr lang="en-US" sz="2000" dirty="0">
                <a:solidFill>
                  <a:prstClr val="black"/>
                </a:solidFill>
              </a:rPr>
              <a:t>. (Massachusetts Institute of Technology: </a:t>
            </a:r>
            <a:r>
              <a:rPr lang="en-US" sz="2000" dirty="0" smtClean="0">
                <a:solidFill>
                  <a:prstClr val="black"/>
                </a:solidFill>
              </a:rPr>
              <a:t>MIT </a:t>
            </a:r>
            <a:r>
              <a:rPr lang="en-US" sz="2000" dirty="0" err="1" smtClean="0">
                <a:solidFill>
                  <a:prstClr val="black"/>
                </a:solidFill>
              </a:rPr>
              <a:t>OpenCourseWare</a:t>
            </a:r>
            <a:r>
              <a:rPr lang="en-US" sz="2000" dirty="0">
                <a:solidFill>
                  <a:prstClr val="black"/>
                </a:solidFill>
              </a:rPr>
              <a:t>),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http://ocw.mit.edu</a:t>
            </a:r>
            <a:r>
              <a:rPr lang="en-US" sz="2000" dirty="0">
                <a:solidFill>
                  <a:prstClr val="black"/>
                </a:solidFill>
              </a:rPr>
              <a:t> (Accessed 13 Apr, 2015). License: </a:t>
            </a:r>
            <a:r>
              <a:rPr lang="en-US" sz="2000" dirty="0">
                <a:solidFill>
                  <a:prstClr val="black"/>
                </a:solidFill>
                <a:hlinkClick r:id="rId4"/>
              </a:rPr>
              <a:t>Creative Commons </a:t>
            </a:r>
            <a:r>
              <a:rPr lang="en-US" sz="2000" dirty="0" smtClean="0">
                <a:solidFill>
                  <a:prstClr val="black"/>
                </a:solidFill>
                <a:hlinkClick r:id="rId4"/>
              </a:rPr>
              <a:t>BY-NC-SA</a:t>
            </a: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4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2629.5"/>
  <p:tag name="LATEXADDIN" val="\documentclass{article}&#10;\usepackage{amsmath}&#10;\pagestyle{empty}&#10;\begin{document}&#10;&#10;&#10;$X \hspace{0.1cm} \text{is discrete uniform over}\hspace{0.1cm} \{-3,-2,-1,0,1,2,3\}$&#10;&#10;&#10;&#10;\end{document}"/>
  <p:tag name="IGUANATEXSIZE" val="24"/>
  <p:tag name="IGUANATEXCURSOR" val="164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2.25"/>
  <p:tag name="ORIGINALWIDTH" val="1320.75"/>
  <p:tag name="LATEXADDIN" val="\documentclass{article}&#10;\usepackage{amsmath}&#10;\pagestyle{empty}&#10;\begin{document}&#10;&#10;&#10;$p_X(x)=\frac{1}{7}\hspace{0.1cm} , \hspace{0.1cm} -3 \le x \le 3$&#10;&#10;&#10;&#10;\end{document}"/>
  <p:tag name="IGUANATEXSIZE" val="24"/>
  <p:tag name="IGUANATEXCURSOR" val="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5"/>
  <p:tag name="ORIGINALWIDTH" val="419.25"/>
  <p:tag name="LATEXADDIN" val="\documentclass{article}&#10;\usepackage{amsmath}&#10;\pagestyle{empty}&#10;\begin{document}&#10;&#10;&#10;$Y=X^2$&#10;&#10;&#10;\end{document}"/>
  <p:tag name="IGUANATEXSIZE" val="24"/>
  <p:tag name="IGUANATEXCURSOR" val="88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5"/>
  <p:tag name="ORIGINALWIDTH" val="1603.5"/>
  <p:tag name="LATEXADDIN" val="\documentclass{article}&#10;\usepackage{amsmath}&#10;\pagestyle{empty}&#10;\begin{document}&#10;&#10;&#10;$\begin{aligned}&#10;               &amp;p_Y(0)=p_X(0)=\frac{1}{7}\\&#10;               &amp;p_Y(1)=p_X(1)+p_X(-1)=\frac{2}{7}\\&#10;               &amp;p_Y(4)=p_X(2)+p_X(-2)=\frac{2}{7}\\&#10;               &amp;p_Y(9)=p_X(3)+p_X(-3)=\frac{2}{7}\\&#10;  \end{aligned}$&#10;&#10;&#10;&#10;\end{document}"/>
  <p:tag name="IGUANATEXSIZE" val="24"/>
  <p:tag name="IGUANATEXCURSOR" val="33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42.25"/>
  <p:tag name="ORIGINALWIDTH" val="2114.25"/>
  <p:tag name="LATEXADDIN" val="\documentclass{article}&#10;\usepackage{amsmath}&#10;\pagestyle{empty}&#10;\begin{document}&#10;&#10;&#10;$\begin{aligned}&#10;               &amp;X,Y \hspace{0.1cm} \text{independent dice rolls.}\\&#10;               &amp;g(x,y)=&#10;\begin{cases}&#10;\frac{y}{x} \hspace{0.3cm} \text{if}\hspace{0.1cm} \frac{y}{x} \hspace{0.1cm}  \text{is an integer}\\&#10;0 \hspace{0.4cm} \text{else}&#10;\end{cases}\\&#10;               &amp;W=g(X,Y)\\&#10;               &amp;P[W=1]=\sum_{i=1}^{6}{P[X=i,Y=i]=\frac{6}{36}}\\&#10;               &amp;P[W=2]=\sum_{i=1}^{3}{P[X=i,Y=2i]=\frac{3}{36}}\\&#10;               &amp;P[W=3]=\sum_{i=1}^{2}{P[X=i,Y=3i]=\frac{2}{36}}\\&#10;  \end{aligned}$&#10;&#10;&#10;&#10;\end{document}"/>
  <p:tag name="IGUANATEXSIZE" val="24"/>
  <p:tag name="IGUANATEXCURSOR" val="574"/>
  <p:tag name="TRANSPARENCY" val="True"/>
  <p:tag name="FILENAME" val=""/>
  <p:tag name="INPUTTYPE" val="0"/>
  <p:tag name="LATEXENGINEID" val="0"/>
  <p:tag name="TEMPFOLDER" val="C:\Users\Abhilash S\Documents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5"/>
  <p:tag name="ORIGINALWIDTH" val="1887.75"/>
  <p:tag name="LATEXADDIN" val="\documentclass{article}&#10;\usepackage{amsmath}&#10;\pagestyle{empty}&#10;\begin{document}&#10;&#10;&#10;$\begin{aligned}&#10;               &amp;P[W=4]=P[X=1,Y=4]=\frac{1}{36}\\&#10;               &amp;P[W=5]=P[X=1,Y=5]=\frac{1}{36}\\&#10;               &amp;P[W=6]=P[X=1,Y=6]=\frac{1}{36}\\&#10;               &amp;P[W=0]=\frac{22}{36}\\&#10;  \end{aligned}$&#10;&#10;&#10;&#10;\end{document}"/>
  <p:tag name="IGUANATEXSIZE" val="24"/>
  <p:tag name="IGUANATEXCURSOR" val="284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141</Words>
  <Application>Microsoft Office PowerPoint</Application>
  <PresentationFormat>On-screen Show (4:3)</PresentationFormat>
  <Paragraphs>36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MS PGothic</vt:lpstr>
      <vt:lpstr>Akzidenz-Grotesk Pro Bold</vt:lpstr>
      <vt:lpstr>Arial</vt:lpstr>
      <vt:lpstr>Calibri</vt:lpstr>
      <vt:lpstr>Calibri Light</vt:lpstr>
      <vt:lpstr>Office Theme</vt:lpstr>
      <vt:lpstr>1_Office Theme</vt:lpstr>
      <vt:lpstr>2_Office Theme</vt:lpstr>
      <vt:lpstr>Derived RVs</vt:lpstr>
      <vt:lpstr>Derived RVs</vt:lpstr>
      <vt:lpstr>Discrete Case: One RV</vt:lpstr>
      <vt:lpstr>Discrete Case: One RV(Example)</vt:lpstr>
      <vt:lpstr>Discrete Case: Two RVs</vt:lpstr>
      <vt:lpstr>Discrete Case: Two RVs(Example)</vt:lpstr>
      <vt:lpstr>Discrete Case: Two RVs (Example)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9</cp:revision>
  <cp:lastPrinted>2015-09-17T18:05:55Z</cp:lastPrinted>
  <dcterms:created xsi:type="dcterms:W3CDTF">2015-06-06T00:46:18Z</dcterms:created>
  <dcterms:modified xsi:type="dcterms:W3CDTF">2016-02-19T00:21:18Z</dcterms:modified>
</cp:coreProperties>
</file>