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917C9-C947-499D-8E12-E5209C39417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1B331-BAC3-4663-AAD5-DFFB799E0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5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7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9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7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2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9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4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1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1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1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1559D-8BF2-4ED5-ACF5-26D24FEABBA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C5385-C581-4DDD-B8EF-6FAA53C8D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9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Bernoulli PMF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96129" y="1909916"/>
            <a:ext cx="4843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Bernoulli(</a:t>
            </a:r>
            <a:r>
              <a:rPr lang="en-US" sz="2000" i="1" dirty="0" smtClean="0"/>
              <a:t>p</a:t>
            </a:r>
            <a:r>
              <a:rPr lang="en-US" sz="2000" dirty="0" smtClean="0"/>
              <a:t>) RV takes on values 0 or 1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5" y="3060669"/>
            <a:ext cx="646176" cy="25298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741" y="2609376"/>
            <a:ext cx="288607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277" y="2923128"/>
            <a:ext cx="11334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90600" y="5029200"/>
            <a:ext cx="5910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Same RV regardless of experiments producing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{0,1}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{H,T}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{</a:t>
            </a:r>
            <a:r>
              <a:rPr lang="en-US" sz="2000" dirty="0" err="1" smtClean="0"/>
              <a:t>Accept,Reject</a:t>
            </a:r>
            <a:r>
              <a:rPr lang="en-US" sz="2000" dirty="0" smtClean="0"/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6664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PMF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917290"/>
            <a:ext cx="770755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 smtClean="0">
                <a:solidFill>
                  <a:prstClr val="black"/>
                </a:solidFill>
              </a:rPr>
              <a:t>n </a:t>
            </a:r>
            <a:r>
              <a:rPr lang="en-US" sz="2000" dirty="0" err="1" smtClean="0">
                <a:solidFill>
                  <a:prstClr val="black"/>
                </a:solidFill>
              </a:rPr>
              <a:t>indep</a:t>
            </a:r>
            <a:r>
              <a:rPr lang="en-US" sz="2000" dirty="0" smtClean="0">
                <a:solidFill>
                  <a:prstClr val="black"/>
                </a:solidFill>
              </a:rPr>
              <a:t>. coin flips, </a:t>
            </a:r>
            <a:r>
              <a:rPr lang="en-US" sz="2000" i="1" dirty="0" smtClean="0">
                <a:solidFill>
                  <a:prstClr val="black"/>
                </a:solidFill>
              </a:rPr>
              <a:t>p </a:t>
            </a:r>
            <a:r>
              <a:rPr lang="en-US" sz="2000" dirty="0" smtClean="0">
                <a:solidFill>
                  <a:prstClr val="black"/>
                </a:solidFill>
              </a:rPr>
              <a:t>is prob. of success; how many successes?</a:t>
            </a:r>
            <a:endParaRPr lang="en-US" sz="2000" i="1" dirty="0" smtClean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Binomial (</a:t>
            </a:r>
            <a:r>
              <a:rPr lang="en-US" sz="2000" i="1" dirty="0" err="1" smtClean="0">
                <a:solidFill>
                  <a:prstClr val="black"/>
                </a:solidFill>
              </a:rPr>
              <a:t>n,p</a:t>
            </a:r>
            <a:r>
              <a:rPr lang="en-US" sz="2000" dirty="0" smtClean="0">
                <a:solidFill>
                  <a:prstClr val="black"/>
                </a:solidFill>
              </a:rPr>
              <a:t>) RV takes on values {0,1,…,</a:t>
            </a:r>
            <a:r>
              <a:rPr lang="en-US" sz="2000" i="1" dirty="0" smtClean="0">
                <a:solidFill>
                  <a:prstClr val="black"/>
                </a:solidFill>
              </a:rPr>
              <a:t>n</a:t>
            </a:r>
            <a:r>
              <a:rPr lang="en-US" sz="2000" dirty="0" smtClean="0">
                <a:solidFill>
                  <a:prstClr val="black"/>
                </a:solidFill>
              </a:rPr>
              <a:t>}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88" y="3498759"/>
            <a:ext cx="646176" cy="252984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393554"/>
            <a:ext cx="11334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988" y="3291876"/>
            <a:ext cx="23717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90588" y="4800600"/>
            <a:ext cx="6882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Can be viewed as a sum of </a:t>
            </a:r>
            <a:r>
              <a:rPr lang="en-US" sz="2000" i="1" dirty="0" smtClean="0"/>
              <a:t>n</a:t>
            </a:r>
            <a:r>
              <a:rPr lang="en-US" sz="2000" dirty="0" smtClean="0"/>
              <a:t> independent Bernoulli RVs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8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PMF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5772150" cy="3923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52" y="5791200"/>
            <a:ext cx="5391048" cy="766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0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 Geometric PMF</a:t>
            </a:r>
            <a:endParaRPr lang="en-US" sz="3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905000"/>
            <a:ext cx="5562600" cy="61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733800"/>
            <a:ext cx="3895344" cy="27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Pascal PMF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32261" y="1828800"/>
            <a:ext cx="527920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Let </a:t>
            </a:r>
            <a:r>
              <a:rPr lang="en-US" sz="2000" i="1" dirty="0" smtClean="0"/>
              <a:t>L </a:t>
            </a:r>
            <a:r>
              <a:rPr lang="en-US" sz="2000" dirty="0" smtClean="0"/>
              <a:t>be the number of trials until </a:t>
            </a:r>
            <a:r>
              <a:rPr lang="en-US" sz="2000" i="1" dirty="0" smtClean="0"/>
              <a:t>k</a:t>
            </a:r>
            <a:r>
              <a:rPr lang="en-US" sz="2000" dirty="0" smtClean="0"/>
              <a:t> rejects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“reject” same as “heads”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1" dirty="0" smtClean="0"/>
              <a:t>p </a:t>
            </a:r>
            <a:r>
              <a:rPr lang="en-US" sz="2000" dirty="0" smtClean="0"/>
              <a:t>is probability of reject in each trial</a:t>
            </a:r>
            <a:endParaRPr lang="en-US" sz="2000" i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Generalization of geometric PMF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61" y="3695699"/>
            <a:ext cx="66484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2" y="4776786"/>
            <a:ext cx="35909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5696596"/>
            <a:ext cx="7905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465" y="5642024"/>
            <a:ext cx="9144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594398"/>
            <a:ext cx="3581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4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Discrete Uniform RV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769806"/>
            <a:ext cx="7231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prstClr val="black"/>
                </a:solidFill>
              </a:rPr>
              <a:t>Equiprobable</a:t>
            </a:r>
            <a:r>
              <a:rPr lang="en-US" sz="2400" dirty="0" smtClean="0">
                <a:solidFill>
                  <a:prstClr val="black"/>
                </a:solidFill>
              </a:rPr>
              <a:t> on consecutive integers </a:t>
            </a:r>
            <a:r>
              <a:rPr lang="en-US" sz="2400" i="1" dirty="0" smtClean="0">
                <a:solidFill>
                  <a:prstClr val="black"/>
                </a:solidFill>
              </a:rPr>
              <a:t>k, k+</a:t>
            </a:r>
            <a:r>
              <a:rPr lang="en-US" sz="2400" dirty="0" smtClean="0">
                <a:solidFill>
                  <a:prstClr val="black"/>
                </a:solidFill>
              </a:rPr>
              <a:t>1, …,</a:t>
            </a:r>
            <a:r>
              <a:rPr lang="en-US" sz="2400" i="1" dirty="0" smtClean="0">
                <a:solidFill>
                  <a:prstClr val="black"/>
                </a:solidFill>
              </a:rPr>
              <a:t>l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15" y="2590800"/>
            <a:ext cx="59817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00414" y="3903298"/>
            <a:ext cx="70022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Roll a fair die and observe the number of points</a:t>
            </a:r>
          </a:p>
          <a:p>
            <a:endParaRPr lang="en-US" sz="2400" dirty="0" smtClean="0">
              <a:solidFill>
                <a:prstClr val="black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734295"/>
            <a:ext cx="40386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177251"/>
            <a:ext cx="40100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7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Poisson PMF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828799"/>
            <a:ext cx="7793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Used to model number of random arrivals </a:t>
            </a:r>
            <a:r>
              <a:rPr lang="en-US" sz="2400" smtClean="0">
                <a:solidFill>
                  <a:prstClr val="black"/>
                </a:solidFill>
              </a:rPr>
              <a:t>in time </a:t>
            </a:r>
            <a:r>
              <a:rPr lang="en-US" sz="2400" dirty="0" smtClean="0">
                <a:solidFill>
                  <a:prstClr val="black"/>
                </a:solidFill>
              </a:rPr>
              <a:t>interval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44958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5800" y="3505200"/>
            <a:ext cx="73052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Example: Calls arrive randomly at 0.25 calls/sec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The PMF of number of calls in a 20 sec. interval?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95800"/>
            <a:ext cx="4267200" cy="229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953000"/>
            <a:ext cx="3681334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2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13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18"/>
  <p:tag name="LATEXADDIN" val="\documentclass{article}&#10;\usepackage{amsmath}&#10;\pagestyle{empty}&#10;\begin{document}&#10;$p_X(x)$&#10;\end{document}"/>
  <p:tag name="IGUANATEXSIZE" val="20"/>
  <p:tag name="IGUANATEXCURSOR" val="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18"/>
  <p:tag name="LATEXADDIN" val="\documentclass{article}&#10;\usepackage{amsmath}&#10;\pagestyle{empty}&#10;\begin{document}&#10;$p_X(x)$&#10;\end{document}"/>
  <p:tag name="IGUANATEXSIZE" val="20"/>
  <p:tag name="IGUANATEXCURSOR" val="8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5.75"/>
  <p:tag name="ORIGINALWIDTH" val="1917"/>
  <p:tag name="LATEXADDIN" val="\documentclass{article}&#10;\usepackage{amsmath}&#10;\pagestyle{empty}&#10;\begin{document}&#10;$p_X(k) = (1-p)^{k-1}p, \;\;\;\; k=1,2,\ldots$&#10;\end{document}"/>
  <p:tag name="IGUANATEXSIZE" val="20"/>
  <p:tag name="IGUANATEXCURSOR" val="1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200</Words>
  <Application>Microsoft Office PowerPoint</Application>
  <PresentationFormat>On-screen Show (4:3)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Office Theme</vt:lpstr>
      <vt:lpstr>Bernoulli PMF</vt:lpstr>
      <vt:lpstr>Binomial PMF</vt:lpstr>
      <vt:lpstr>Binomial PMF Cont’</vt:lpstr>
      <vt:lpstr>Recall Geometric PMF</vt:lpstr>
      <vt:lpstr>Pascal PMF</vt:lpstr>
      <vt:lpstr>Discrete Uniform RV</vt:lpstr>
      <vt:lpstr>Poisson PMF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Bernoulli PMF</dc:title>
  <dc:creator>Cihan Tepedelenlioglu</dc:creator>
  <cp:lastModifiedBy>Abhilash Sureshbabu</cp:lastModifiedBy>
  <cp:revision>4</cp:revision>
  <dcterms:created xsi:type="dcterms:W3CDTF">2015-06-06T00:28:20Z</dcterms:created>
  <dcterms:modified xsi:type="dcterms:W3CDTF">2016-02-19T00:09:54Z</dcterms:modified>
</cp:coreProperties>
</file>