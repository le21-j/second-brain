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3" r:id="rId2"/>
    <p:sldId id="267" r:id="rId3"/>
    <p:sldId id="257" r:id="rId4"/>
    <p:sldId id="268" r:id="rId5"/>
    <p:sldId id="269" r:id="rId6"/>
    <p:sldId id="258" r:id="rId7"/>
    <p:sldId id="265" r:id="rId8"/>
    <p:sldId id="259" r:id="rId9"/>
    <p:sldId id="266" r:id="rId10"/>
    <p:sldId id="260" r:id="rId11"/>
    <p:sldId id="262" r:id="rId12"/>
    <p:sldId id="264" r:id="rId13"/>
    <p:sldId id="270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5A9F6-C7FA-4CA4-B7FC-BAF1CC1C368F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F3F01-4AA3-472A-A079-7FA576DAA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389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443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4B52-3EFA-49EF-9EC4-94DF391C381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6CA7-D3CE-4763-8AB3-96AFE565C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249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4B52-3EFA-49EF-9EC4-94DF391C381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6CA7-D3CE-4763-8AB3-96AFE565C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27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4B52-3EFA-49EF-9EC4-94DF391C381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6CA7-D3CE-4763-8AB3-96AFE565C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100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4B52-3EFA-49EF-9EC4-94DF391C381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6CA7-D3CE-4763-8AB3-96AFE565C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499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4B52-3EFA-49EF-9EC4-94DF391C381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6CA7-D3CE-4763-8AB3-96AFE565C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58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4B52-3EFA-49EF-9EC4-94DF391C381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6CA7-D3CE-4763-8AB3-96AFE565C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025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4B52-3EFA-49EF-9EC4-94DF391C381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6CA7-D3CE-4763-8AB3-96AFE565C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714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4B52-3EFA-49EF-9EC4-94DF391C381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6CA7-D3CE-4763-8AB3-96AFE565C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10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4B52-3EFA-49EF-9EC4-94DF391C381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6CA7-D3CE-4763-8AB3-96AFE565C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41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4B52-3EFA-49EF-9EC4-94DF391C381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6CA7-D3CE-4763-8AB3-96AFE565C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92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4B52-3EFA-49EF-9EC4-94DF391C381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6CA7-D3CE-4763-8AB3-96AFE565C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064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B4B52-3EFA-49EF-9EC4-94DF391C381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46CA7-D3CE-4763-8AB3-96AFE565C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014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Moment Generating Function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17418" y="2133600"/>
                <a:ext cx="695498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The MGF of a RV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is defined as 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418" y="2133600"/>
                <a:ext cx="6954982" cy="400110"/>
              </a:xfrm>
              <a:prstGeom prst="rect">
                <a:avLst/>
              </a:prstGeom>
              <a:blipFill rotWithShape="1">
                <a:blip r:embed="rId4"/>
                <a:stretch>
                  <a:fillRect l="-701" t="-606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595624"/>
            <a:ext cx="2389632" cy="1030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817418" y="3812828"/>
            <a:ext cx="695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Continuous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9663" y="5514945"/>
            <a:ext cx="695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Discrete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480" y="4572000"/>
            <a:ext cx="2871216" cy="59588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382" y="6007222"/>
            <a:ext cx="2703576" cy="68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025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Recall Moments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17418" y="2133600"/>
            <a:ext cx="695498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moments of a random variable is the expected value of an integer power: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For example, the first moment is the “mean”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second moment minus the squared mean is the variance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It is an expectation of a function of a RV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We will see that the MGF is useful in computing moments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278" y="2543310"/>
            <a:ext cx="670560" cy="25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792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Generating Moments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17418" y="2133600"/>
                <a:ext cx="695498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The MGF of a RV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is defined as 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418" y="2133600"/>
                <a:ext cx="6954982" cy="400110"/>
              </a:xfrm>
              <a:prstGeom prst="rect">
                <a:avLst/>
              </a:prstGeom>
              <a:blipFill rotWithShape="1">
                <a:blip r:embed="rId2"/>
                <a:stretch>
                  <a:fillRect l="-701" t="-606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895600"/>
            <a:ext cx="2590800" cy="1117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817418" y="4012883"/>
            <a:ext cx="695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Easy to see that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4724400"/>
            <a:ext cx="3377479" cy="1090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571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179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MGF of a Sum of Independent RVs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38200" y="1828800"/>
                <a:ext cx="522380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𝑊</m:t>
                    </m:r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sz="200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+…+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sz="200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sz="200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20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independent</a:t>
                </a:r>
                <a:endParaRPr lang="en-US" sz="20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8800"/>
                <a:ext cx="5223802" cy="400110"/>
              </a:xfrm>
              <a:prstGeom prst="rect">
                <a:avLst/>
              </a:prstGeom>
              <a:blipFill rotWithShape="1">
                <a:blip r:embed="rId2"/>
                <a:stretch>
                  <a:fillRect l="-1051" t="-6061" r="-234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940451"/>
            <a:ext cx="401002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39680" y="3657600"/>
            <a:ext cx="36663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also identically distributed</a:t>
            </a:r>
            <a:endParaRPr 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275" y="4495800"/>
            <a:ext cx="22955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936595" y="5334000"/>
            <a:ext cx="79001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Useful to prove asymptotic results about sums of RVs (LLN, CLT)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Useful to prove distributions of sums of RVs</a:t>
            </a:r>
            <a:endParaRPr 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9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399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179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Discrete MGFs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05000"/>
            <a:ext cx="7067550" cy="418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008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009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179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Continuous MGFs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8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209800"/>
            <a:ext cx="7029450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5000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849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179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Moment Finding Example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38200" y="1828800"/>
                <a:ext cx="537698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Find moments of exp. RV with parameter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smtClean="0">
                        <a:latin typeface="Cambria Math"/>
                        <a:ea typeface="Cambria Math"/>
                        <a:cs typeface="Arial" panose="020B0604020202020204" pitchFamily="34" charset="0"/>
                      </a:rPr>
                      <m:t>λ</m:t>
                    </m:r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8800"/>
                <a:ext cx="5376985" cy="400110"/>
              </a:xfrm>
              <a:prstGeom prst="rect">
                <a:avLst/>
              </a:prstGeom>
              <a:blipFill rotWithShape="1">
                <a:blip r:embed="rId2"/>
                <a:stretch>
                  <a:fillRect l="-1020" t="-606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657475"/>
            <a:ext cx="494347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557" y="3657600"/>
            <a:ext cx="521017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312" y="5334000"/>
            <a:ext cx="5534025" cy="790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0189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179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Sum of Independent Poisson RVs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38200" y="1828800"/>
                <a:ext cx="814389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Arial" panose="020B0604020202020204" pitchFamily="34" charset="0"/>
                      </a:rPr>
                      <m:t>𝑊</m:t>
                    </m:r>
                    <m:r>
                      <a:rPr lang="en-US" sz="2000" b="0" i="1" smtClean="0">
                        <a:latin typeface="Cambria Math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  <m:t>𝐾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  <a:cs typeface="Arial" panose="020B0604020202020204" pitchFamily="34" charset="0"/>
                      </a:rPr>
                      <m:t>+…+</m:t>
                    </m:r>
                    <m:sSub>
                      <m:sSubPr>
                        <m:ctrlP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  <m:t>𝐾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  <m:t>𝐾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independent, Poisson 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Arial" panose="020B0604020202020204" pitchFamily="34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  <a:cs typeface="Arial" panose="020B0604020202020204" pitchFamily="34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8800"/>
                <a:ext cx="8143896" cy="400110"/>
              </a:xfrm>
              <a:prstGeom prst="rect">
                <a:avLst/>
              </a:prstGeom>
              <a:blipFill rotWithShape="1">
                <a:blip r:embed="rId2"/>
                <a:stretch>
                  <a:fillRect l="-674" t="-606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275" y="2438400"/>
            <a:ext cx="225742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1197" y="2819400"/>
            <a:ext cx="481965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138" y="3424238"/>
            <a:ext cx="85725" cy="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456" y="3719142"/>
            <a:ext cx="18478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094" y="4800600"/>
            <a:ext cx="23431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990600" y="5486400"/>
            <a:ext cx="54575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Sum of independent Poisson RVs is a Poisson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409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179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Sum of Independent Gaussian RVs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38200" y="1600200"/>
                <a:ext cx="7046416" cy="7245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𝑊</m:t>
                    </m:r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sz="200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+…+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sz="200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2000" dirty="0" smtClean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independent, Gaussian with </a:t>
                </a:r>
                <a:endParaRPr lang="en-US" sz="2000" i="1" dirty="0" smtClean="0">
                  <a:solidFill>
                    <a:prstClr val="black"/>
                  </a:solidFill>
                  <a:latin typeface="Cambria Math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prstClr val="black"/>
                                </a:solidFill>
                                <a:latin typeface="Cambria Math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prstClr val="black"/>
                                </a:solidFill>
                                <a:latin typeface="Cambria Math"/>
                                <a:cs typeface="Arial" panose="020B0604020202020204" pitchFamily="34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prstClr val="black"/>
                                </a:solidFill>
                                <a:latin typeface="Cambria Math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    </m:t>
                    </m:r>
                    <m:sSubSup>
                      <m:sSubSupPr>
                        <m:ctrlP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𝜎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2</m:t>
                        </m:r>
                      </m:sup>
                    </m:sSubSup>
                    <m:r>
                      <a:rPr lang="en-US" sz="2000" b="0" i="1" smtClean="0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Var</m:t>
                    </m:r>
                    <m:r>
                      <a:rPr lang="en-US" sz="2000" b="0" i="1" smtClean="0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[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]</m:t>
                    </m:r>
                  </m:oMath>
                </a14:m>
                <a:endParaRPr lang="en-US" sz="20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00200"/>
                <a:ext cx="7046416" cy="724557"/>
              </a:xfrm>
              <a:prstGeom prst="rect">
                <a:avLst/>
              </a:prstGeom>
              <a:blipFill rotWithShape="1">
                <a:blip r:embed="rId2"/>
                <a:stretch>
                  <a:fillRect l="-779" t="-3390" b="-11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138" y="3424238"/>
            <a:ext cx="85725" cy="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990600" y="5486400"/>
            <a:ext cx="5534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 of independent Gaussian RVs is a Gaussian</a:t>
            </a:r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424238"/>
            <a:ext cx="5762625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899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352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93.25"/>
  <p:tag name="ORIGINALWIDTH" val="1413"/>
  <p:tag name="LATEXADDIN" val="\documentclass{article}&#10;\usepackage{amsmath}&#10;\pagestyle{empty}&#10;\begin{document}&#10;$$\phi_X(s) = \int_{-\infty}^{\infty}f_X(x) \; e^{sx} dx$$&#10;\end{document}"/>
  <p:tag name="IGUANATEXSIZE" val="20"/>
  <p:tag name="IGUANATEXCURSOR" val="1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39"/>
  <p:tag name="ORIGINALWIDTH" val="1330.5"/>
  <p:tag name="LATEXADDIN" val="\documentclass{article}&#10;\usepackage{amsmath}&#10;\pagestyle{empty}&#10;\begin{document}&#10;$$\phi_X(s) = \sum_{x=-\infty}^{\infty}p_X(x) \; e^{sx}$$&#10;\end{document}"/>
  <p:tag name="IGUANATEXSIZE" val="20"/>
  <p:tag name="IGUANATEXCURSOR" val="13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5"/>
  <p:tag name="ORIGINALWIDTH" val="330"/>
  <p:tag name="LATEXADDIN" val="\documentclass{article}&#10;\usepackage{amsmath}&#10;\pagestyle{empty}&#10;\begin{document}&#10;$E[X^n]$&#10;\end{document}"/>
  <p:tag name="IGUANATEXSIZE" val="20"/>
  <p:tag name="IGUANATEXCURSOR" val="8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1104</TotalTime>
  <Words>216</Words>
  <Application>Microsoft Office PowerPoint</Application>
  <PresentationFormat>On-screen Show (4:3)</PresentationFormat>
  <Paragraphs>48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MS PGothic</vt:lpstr>
      <vt:lpstr>Akzidenz-Grotesk Pro Bold</vt:lpstr>
      <vt:lpstr>Arial</vt:lpstr>
      <vt:lpstr>Calibri</vt:lpstr>
      <vt:lpstr>Cambria Math</vt:lpstr>
      <vt:lpstr>Office Theme</vt:lpstr>
      <vt:lpstr>Moment Generating Function</vt:lpstr>
      <vt:lpstr>Recall Moments</vt:lpstr>
      <vt:lpstr>Generating Moments</vt:lpstr>
      <vt:lpstr>MGF of a Sum of Independent RVs</vt:lpstr>
      <vt:lpstr>PowerPoint Presentation</vt:lpstr>
      <vt:lpstr>Discrete MGFs</vt:lpstr>
      <vt:lpstr>PowerPoint Presentation</vt:lpstr>
      <vt:lpstr>Continuous MGFs</vt:lpstr>
      <vt:lpstr>PowerPoint Presentation</vt:lpstr>
      <vt:lpstr>Moment Finding Example</vt:lpstr>
      <vt:lpstr>Sum of Independent Poisson RVs</vt:lpstr>
      <vt:lpstr>Sum of Independent Gaussian RVs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Partitions</dc:title>
  <dc:creator>Cihan Tepedelenlioglu</dc:creator>
  <cp:lastModifiedBy>Abhilash Sureshbabu</cp:lastModifiedBy>
  <cp:revision>13</cp:revision>
  <dcterms:created xsi:type="dcterms:W3CDTF">2015-06-06T00:26:37Z</dcterms:created>
  <dcterms:modified xsi:type="dcterms:W3CDTF">2016-02-19T00:24:33Z</dcterms:modified>
</cp:coreProperties>
</file>