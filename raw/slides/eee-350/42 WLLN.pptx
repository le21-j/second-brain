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60" r:id="rId3"/>
    <p:sldId id="261" r:id="rId4"/>
    <p:sldId id="262" r:id="rId5"/>
    <p:sldId id="263" r:id="rId6"/>
    <p:sldId id="264" r:id="rId7"/>
    <p:sldId id="258" r:id="rId8"/>
    <p:sldId id="259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2A1B8-C440-435A-84A9-A22A9CAEDA9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05D306-1BDC-4DA1-BAD0-E90D39FD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49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05D306-1BDC-4DA1-BAD0-E90D39FDA6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12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71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65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1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09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67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95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90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72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80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2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E0D7A-C608-40FB-8979-BA4500AFAC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DDD4C-11AF-4ADF-92F1-2AA09D340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9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6.xml"/><Relationship Id="rId7" Type="http://schemas.openxmlformats.org/officeDocument/2006/relationships/image" Target="../media/image9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Weak Law of Large Numbers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2133600"/>
            <a:ext cx="591668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aka convergence of the sample mean in probability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                 are </a:t>
            </a:r>
            <a:r>
              <a:rPr lang="en-US" sz="2000" dirty="0" err="1" smtClean="0"/>
              <a:t>i.i.d</a:t>
            </a:r>
            <a:r>
              <a:rPr lang="en-US" sz="2000" dirty="0" smtClean="0"/>
              <a:t>. with finite mean      and variance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627230"/>
            <a:ext cx="1138428" cy="2209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2674544"/>
            <a:ext cx="165069" cy="1977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2627855"/>
            <a:ext cx="234696" cy="213360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427" y="3124200"/>
            <a:ext cx="266900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3809999"/>
            <a:ext cx="16383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181599"/>
            <a:ext cx="492442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WLLN Picture</a:t>
            </a:r>
            <a:endParaRPr lang="en-US" sz="3600" dirty="0"/>
          </a:p>
        </p:txBody>
      </p:sp>
      <p:pic>
        <p:nvPicPr>
          <p:cNvPr id="1026" name="Picture 2" descr="C:\Users\ctepede\Desktop\600px-Largenumber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75" y="1371600"/>
            <a:ext cx="5715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66800" y="6096000"/>
            <a:ext cx="5538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Average of a roll of a single dice (from </a:t>
            </a:r>
            <a:r>
              <a:rPr lang="en-US" sz="2000" dirty="0" err="1" smtClean="0"/>
              <a:t>wikipedia</a:t>
            </a:r>
            <a:r>
              <a:rPr lang="en-US" sz="2000" dirty="0" smtClean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31931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WLLN Remarks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752600"/>
            <a:ext cx="7185942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LLN can be misunderstood and lead to “gambler’s fallacy</a:t>
            </a:r>
            <a:r>
              <a:rPr lang="en-US" sz="2000" dirty="0" smtClean="0">
                <a:solidFill>
                  <a:prstClr val="black"/>
                </a:solidFill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There is also SLLN, which involves another type of convergence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We will not distinguish these, see a more advanced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There are different LLN depending on </a:t>
            </a:r>
            <a:r>
              <a:rPr lang="en-US" sz="2000" dirty="0" err="1" smtClean="0">
                <a:solidFill>
                  <a:prstClr val="black"/>
                </a:solidFill>
              </a:rPr>
              <a:t>defn</a:t>
            </a:r>
            <a:r>
              <a:rPr lang="en-US" sz="2000" dirty="0" smtClean="0">
                <a:solidFill>
                  <a:prstClr val="black"/>
                </a:solidFill>
              </a:rPr>
              <a:t> of convergence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The independence assumption can be relaxed, but not too much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Extreme case where LLN fails: All RVs are the same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Dependent case where LLN doesn’t fail depends on </a:t>
            </a:r>
            <a:r>
              <a:rPr lang="en-US" sz="2000" dirty="0" err="1" smtClean="0">
                <a:solidFill>
                  <a:prstClr val="black"/>
                </a:solidFill>
              </a:rPr>
              <a:t>covariances</a:t>
            </a:r>
            <a:endParaRPr lang="en-US" sz="2000" dirty="0" smtClean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(see next slide)</a:t>
            </a:r>
            <a:endParaRPr lang="en-US" sz="2000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15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kern="0" dirty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WLLN 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Holds under Some Dependence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809" y="1512903"/>
            <a:ext cx="5341620" cy="911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819400"/>
            <a:ext cx="6994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If the variance goes to zero, we are done by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Chevbychev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Consider a moving average example below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3810000"/>
            <a:ext cx="3200400" cy="2270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196733"/>
            <a:ext cx="7083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Gaussians are independent with zero mean and variance 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4253532"/>
            <a:ext cx="498348" cy="28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978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22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25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Q: How many people should we poll</a:t>
            </a:r>
            <a:endParaRPr lang="en-US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43" y="1884680"/>
            <a:ext cx="582407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63" y="5257800"/>
            <a:ext cx="5719728" cy="1164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8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Polling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6172200" cy="3439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2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635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.75"/>
  <p:tag name="ORIGINALWIDTH" val="560.25"/>
  <p:tag name="LATEXADDIN" val="\documentclass{article}&#10;\usepackage{amsmath}&#10;\pagestyle{empty}&#10;\begin{document}&#10;$X_1, X_2, \ldots$&#10;\end{document}"/>
  <p:tag name="IGUANATEXSIZE" val="20"/>
  <p:tag name="IGUANATEXCURSOR" val="9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.75"/>
  <p:tag name="ORIGINALWIDTH" val="68.25"/>
  <p:tag name="LATEXADDIN" val="\documentclass{article}&#10;\usepackage{amsmath}&#10;\pagestyle{empty}&#10;\begin{document}&#10;$\mu$&#10;\end{document}"/>
  <p:tag name="IGUANATEXSIZE" val="20"/>
  <p:tag name="IGUANATEXCURSOR" val="8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"/>
  <p:tag name="ORIGINALWIDTH" val="115.5"/>
  <p:tag name="LATEXADDIN" val="\documentclass{article}&#10;\usepackage{amsmath}&#10;\pagestyle{empty}&#10;\begin{document}&#10;$\sigma^2$&#10;\end{document}"/>
  <p:tag name="IGUANATEXSIZE" val="20"/>
  <p:tag name="IGUANATEXCURSOR" val="9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48.5"/>
  <p:tag name="ORIGINALWIDTH" val="2628.75"/>
  <p:tag name="LATEXADDIN" val="\documentclass{article}&#10;\usepackage{amsmath}&#10;\pagestyle{empty}&#10;\begin{document}&#10;$${\rm Var}(M_n) = \frac{1}{n^2}\left(\sum_i {\rm Var}(X_i) + \sum_{i\neq j} {\rm cov}(X_i,X_j)\right)$$&#10;\end{document}"/>
  <p:tag name="IGUANATEXSIZE" val="20"/>
  <p:tag name="IGUANATEXCURSOR" val="18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5"/>
  <p:tag name="ORIGINALWIDTH" val="1575"/>
  <p:tag name="LATEXADDIN" val="\documentclass{article}&#10;\usepackage{amsmath}&#10;\pagestyle{empty}&#10;\begin{document}&#10;$$X_i=G_i+G_{i-1} \;, i=1,\ldots,n$$&#10;\end{document}"/>
  <p:tag name="IGUANATEXSIZE" val="20"/>
  <p:tag name="IGUANATEXCURSOR" val="11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1"/>
  <p:tag name="ORIGINALWIDTH" val="245.25"/>
  <p:tag name="LATEXADDIN" val="\documentclass{article}&#10;\usepackage{amsmath}&#10;\pagestyle{empty}&#10;\begin{document}&#10;$$\sigma^2/2$$&#10;\end{document}"/>
  <p:tag name="IGUANATEXSIZE" val="20"/>
  <p:tag name="IGUANATEXCURSOR" val="9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191</Words>
  <Application>Microsoft Office PowerPoint</Application>
  <PresentationFormat>On-screen Show (4:3)</PresentationFormat>
  <Paragraphs>34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MS PGothic</vt:lpstr>
      <vt:lpstr>Akzidenz-Grotesk Pro Bold</vt:lpstr>
      <vt:lpstr>Arial</vt:lpstr>
      <vt:lpstr>Calibri</vt:lpstr>
      <vt:lpstr>Office Theme</vt:lpstr>
      <vt:lpstr>Weak Law of Large Numbers</vt:lpstr>
      <vt:lpstr>WLLN Picture</vt:lpstr>
      <vt:lpstr>WLLN Remarks</vt:lpstr>
      <vt:lpstr>WLLN Holds under Some Dependence</vt:lpstr>
      <vt:lpstr>PowerPoint Presentation</vt:lpstr>
      <vt:lpstr>PowerPoint Presentation</vt:lpstr>
      <vt:lpstr>Q: How many people should we poll</vt:lpstr>
      <vt:lpstr>Polling Cont’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19</cp:revision>
  <dcterms:created xsi:type="dcterms:W3CDTF">2015-06-06T00:55:05Z</dcterms:created>
  <dcterms:modified xsi:type="dcterms:W3CDTF">2016-02-19T00:36:39Z</dcterms:modified>
</cp:coreProperties>
</file>