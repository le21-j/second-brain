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9" r:id="rId3"/>
    <p:sldId id="260" r:id="rId4"/>
    <p:sldId id="261" r:id="rId5"/>
    <p:sldId id="267" r:id="rId6"/>
    <p:sldId id="262" r:id="rId7"/>
    <p:sldId id="266" r:id="rId8"/>
    <p:sldId id="263" r:id="rId9"/>
    <p:sldId id="264" r:id="rId10"/>
    <p:sldId id="265" r:id="rId11"/>
    <p:sldId id="269" r:id="rId12"/>
    <p:sldId id="268" r:id="rId13"/>
    <p:sldId id="270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2660FB-DBC4-4B19-BCF8-EB079376F1EC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E04E46-A4F9-41E9-80AC-155460B10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166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869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9F19-4CC0-4310-983C-DB2ABBBFDD0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5E94-506F-4141-8281-2CA4B2203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304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9F19-4CC0-4310-983C-DB2ABBBFDD0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5E94-506F-4141-8281-2CA4B2203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767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9F19-4CC0-4310-983C-DB2ABBBFDD0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5E94-506F-4141-8281-2CA4B2203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55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9F19-4CC0-4310-983C-DB2ABBBFDD0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5E94-506F-4141-8281-2CA4B2203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31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9F19-4CC0-4310-983C-DB2ABBBFDD0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5E94-506F-4141-8281-2CA4B2203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60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9F19-4CC0-4310-983C-DB2ABBBFDD0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5E94-506F-4141-8281-2CA4B2203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831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9F19-4CC0-4310-983C-DB2ABBBFDD0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5E94-506F-4141-8281-2CA4B2203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846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9F19-4CC0-4310-983C-DB2ABBBFDD0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5E94-506F-4141-8281-2CA4B2203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667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9F19-4CC0-4310-983C-DB2ABBBFDD0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5E94-506F-4141-8281-2CA4B2203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02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9F19-4CC0-4310-983C-DB2ABBBFDD0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5E94-506F-4141-8281-2CA4B2203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019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9F19-4CC0-4310-983C-DB2ABBBFDD0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5E94-506F-4141-8281-2CA4B2203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496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39F19-4CC0-4310-983C-DB2ABBBFDD0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25E94-506F-4141-8281-2CA4B2203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920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slideLayout" Target="../slideLayouts/slideLayout1.xml"/><Relationship Id="rId17" Type="http://schemas.openxmlformats.org/officeDocument/2006/relationships/image" Target="../media/image5.png"/><Relationship Id="rId2" Type="http://schemas.openxmlformats.org/officeDocument/2006/relationships/tags" Target="../tags/tag2.xml"/><Relationship Id="rId16" Type="http://schemas.openxmlformats.org/officeDocument/2006/relationships/image" Target="../media/image4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image" Target="../media/image3.png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14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image" Target="../media/image10.png"/><Relationship Id="rId5" Type="http://schemas.openxmlformats.org/officeDocument/2006/relationships/tags" Target="../tags/tag16.xml"/><Relationship Id="rId10" Type="http://schemas.openxmlformats.org/officeDocument/2006/relationships/image" Target="../media/image9.png"/><Relationship Id="rId4" Type="http://schemas.openxmlformats.org/officeDocument/2006/relationships/tags" Target="../tags/tag15.xml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tags" Target="../tags/tag20.xml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15.png"/><Relationship Id="rId4" Type="http://schemas.openxmlformats.org/officeDocument/2006/relationships/tags" Target="../tags/tag21.xml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Introduction to Classical Statistics</a:t>
            </a:r>
            <a:endParaRPr lang="en-US" sz="3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768267" y="4441686"/>
            <a:ext cx="645991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   contains all unknown (</a:t>
            </a:r>
            <a:r>
              <a:rPr lang="en-US" sz="2000" i="1" dirty="0" smtClean="0"/>
              <a:t>deterministic</a:t>
            </a:r>
            <a:r>
              <a:rPr lang="en-US" sz="2000" dirty="0" smtClean="0"/>
              <a:t>) parameters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  <a:r>
              <a:rPr lang="en-US" sz="2000" dirty="0" smtClean="0"/>
              <a:t> contains all </a:t>
            </a:r>
            <a:r>
              <a:rPr lang="en-US" sz="2000" i="1" dirty="0" smtClean="0"/>
              <a:t>N</a:t>
            </a:r>
            <a:r>
              <a:rPr lang="en-US" sz="2000" dirty="0" smtClean="0"/>
              <a:t> measurements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“Estimator” processes the measurements to approximate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5" name="Rectangle 4"/>
          <p:cNvSpPr/>
          <p:nvPr/>
        </p:nvSpPr>
        <p:spPr>
          <a:xfrm>
            <a:off x="1628351" y="2694328"/>
            <a:ext cx="1376681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397829" y="2694328"/>
            <a:ext cx="1376681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>
            <a:endCxn id="5" idx="1"/>
          </p:cNvCxnSpPr>
          <p:nvPr/>
        </p:nvCxnSpPr>
        <p:spPr>
          <a:xfrm>
            <a:off x="935810" y="2922928"/>
            <a:ext cx="6925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endCxn id="5" idx="0"/>
          </p:cNvCxnSpPr>
          <p:nvPr/>
        </p:nvCxnSpPr>
        <p:spPr>
          <a:xfrm>
            <a:off x="2316691" y="2091777"/>
            <a:ext cx="1" cy="602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5" idx="3"/>
            <a:endCxn id="11" idx="1"/>
          </p:cNvCxnSpPr>
          <p:nvPr/>
        </p:nvCxnSpPr>
        <p:spPr>
          <a:xfrm>
            <a:off x="3005032" y="2922928"/>
            <a:ext cx="13927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1" idx="3"/>
          </p:cNvCxnSpPr>
          <p:nvPr/>
        </p:nvCxnSpPr>
        <p:spPr>
          <a:xfrm>
            <a:off x="5774510" y="2922928"/>
            <a:ext cx="7569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775" y="2591245"/>
            <a:ext cx="128016" cy="215798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9406" y="2640410"/>
            <a:ext cx="252374" cy="206654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2581" y="2618642"/>
            <a:ext cx="131674" cy="294436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1413" y="1988450"/>
            <a:ext cx="257861" cy="206654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866" y="2807043"/>
            <a:ext cx="1196950" cy="192786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607" y="2748816"/>
            <a:ext cx="1031443" cy="30358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9094" y="3733800"/>
            <a:ext cx="65569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Unlike Bayesian case,                      is not a conditional PDF.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Unlike Bayesian case, there is no “prior” on    </a:t>
            </a:r>
            <a:endParaRPr lang="en-US" sz="2000" dirty="0"/>
          </a:p>
        </p:txBody>
      </p:sp>
      <p:pic>
        <p:nvPicPr>
          <p:cNvPr id="23" name="Picture 2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891" y="3782064"/>
            <a:ext cx="1031443" cy="303581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8001" y="5562600"/>
            <a:ext cx="128016" cy="215798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59" y="5105400"/>
            <a:ext cx="252374" cy="206654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199" y="4087743"/>
            <a:ext cx="128016" cy="215798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17" y="4648200"/>
            <a:ext cx="128016" cy="21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46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Maximum Likelihood Estimation</a:t>
            </a:r>
            <a:endParaRPr lang="en-US" sz="3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2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20435" y="2149554"/>
            <a:ext cx="7171130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Model is described by how unknown depends on the PDF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Pick the parameter that makes the data “most likely”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“</a:t>
            </a:r>
            <a:r>
              <a:rPr lang="en-US" sz="2000" dirty="0" err="1" smtClean="0"/>
              <a:t>argmax</a:t>
            </a:r>
            <a:r>
              <a:rPr lang="en-US" sz="2000" dirty="0" smtClean="0"/>
              <a:t>” means the value of    that maximizes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Clearly it is a function of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Plug in the random observation        </a:t>
            </a:r>
            <a:r>
              <a:rPr lang="en-US" sz="2000" dirty="0" err="1" smtClean="0"/>
              <a:t>observation</a:t>
            </a:r>
            <a:r>
              <a:rPr lang="en-US" sz="2000" dirty="0" smtClean="0"/>
              <a:t> for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The result from </a:t>
            </a:r>
            <a:r>
              <a:rPr lang="en-US" sz="2000" dirty="0" err="1" smtClean="0"/>
              <a:t>argmax</a:t>
            </a:r>
            <a:r>
              <a:rPr lang="en-US" sz="2000" dirty="0" smtClean="0"/>
              <a:t> yields a function of         which is random</a:t>
            </a:r>
            <a:endParaRPr lang="en-US" sz="2000" dirty="0"/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1745" y="5334000"/>
            <a:ext cx="106680" cy="17983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206" y="4038600"/>
            <a:ext cx="3898238" cy="61418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4852" y="5625466"/>
            <a:ext cx="217715" cy="16729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1" y="5870821"/>
            <a:ext cx="307093" cy="26125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5905" y="5917801"/>
            <a:ext cx="217715" cy="16729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7897" y="6153850"/>
            <a:ext cx="307093" cy="26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525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</a:t>
            </a:r>
            <a:endParaRPr lang="en-US" sz="36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2534" y="1875753"/>
            <a:ext cx="4938046" cy="567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703" y="1905754"/>
            <a:ext cx="251831" cy="432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555" y="2502070"/>
            <a:ext cx="2292080" cy="35560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557" y="3217796"/>
            <a:ext cx="2891191" cy="37299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841" y="4004847"/>
            <a:ext cx="5494422" cy="37299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9554" y="4806236"/>
            <a:ext cx="1538361" cy="210655"/>
          </a:xfrm>
          <a:prstGeom prst="rect">
            <a:avLst/>
          </a:prstGeom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4571432"/>
            <a:ext cx="2209800" cy="766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067" y="5486400"/>
            <a:ext cx="6319837" cy="100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461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Good Estimators</a:t>
            </a:r>
            <a:endParaRPr lang="en-US" sz="36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81200"/>
            <a:ext cx="4800600" cy="4499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225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489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Example: Estimating the Expectation</a:t>
            </a:r>
            <a:endParaRPr lang="en-US" sz="3600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133600"/>
            <a:ext cx="6210822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931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730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Properties of the “Sample Mean”</a:t>
            </a:r>
            <a:endParaRPr lang="en-US" sz="36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828800"/>
            <a:ext cx="6172200" cy="41087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665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Confidence Intervals, or Interval Estimation</a:t>
            </a:r>
            <a:endParaRPr lang="en-US" sz="36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180" y="2133600"/>
            <a:ext cx="5334000" cy="886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280" y="3529614"/>
            <a:ext cx="5257800" cy="1532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9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824144" y="5486400"/>
            <a:ext cx="59829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Instead of producing one value as an estimator,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   we produce an interval based on observation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1069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</a:t>
            </a:r>
            <a:endParaRPr lang="en-US" sz="36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669013"/>
            <a:ext cx="488632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209800"/>
            <a:ext cx="3781425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416" y="2971799"/>
            <a:ext cx="5380444" cy="210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10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24144" y="5486400"/>
            <a:ext cx="57842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True even if data are not Gaussian due to CLT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441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557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 </a:t>
            </a:r>
            <a:r>
              <a:rPr lang="en-US" sz="3600" kern="0" dirty="0" err="1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Cont</a:t>
            </a:r>
            <a:r>
              <a:rPr lang="en-US" sz="3600" kern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’</a:t>
            </a:r>
            <a:endParaRPr lang="en-US" sz="3600" dirty="0"/>
          </a:p>
        </p:txBody>
      </p:sp>
      <p:pic>
        <p:nvPicPr>
          <p:cNvPr id="4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600200"/>
            <a:ext cx="6915150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85800" y="4038600"/>
            <a:ext cx="57695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What happens to the interval as </a:t>
            </a:r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gets larger?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6326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13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Point Lecture Slides for the Textbook </a:t>
            </a:r>
            <a:r>
              <a:rPr lang="en-US" sz="2000" dirty="0" smtClean="0"/>
              <a:t>http</a:t>
            </a:r>
            <a:r>
              <a:rPr lang="en-US" sz="2000" dirty="0"/>
              <a:t>://</a:t>
            </a:r>
            <a:r>
              <a:rPr lang="en-US" sz="2000" dirty="0" smtClean="0"/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John </a:t>
            </a:r>
            <a:r>
              <a:rPr lang="en-US" sz="2000" dirty="0" err="1"/>
              <a:t>Tsitsiklis</a:t>
            </a:r>
            <a:r>
              <a:rPr lang="en-US" sz="2000" dirty="0"/>
              <a:t>. </a:t>
            </a:r>
            <a:r>
              <a:rPr lang="en-US" sz="2000" i="1" dirty="0"/>
              <a:t>6.041 Probabilistic Systems Analysis and Applied Probability, Fall 2010</a:t>
            </a:r>
            <a:r>
              <a:rPr lang="en-US" sz="2000" dirty="0"/>
              <a:t>. (Massachusetts Institute of Technology: </a:t>
            </a:r>
            <a:r>
              <a:rPr lang="en-US" sz="2000" dirty="0" smtClean="0"/>
              <a:t>MIT </a:t>
            </a:r>
            <a:r>
              <a:rPr lang="en-US" sz="2000" dirty="0" err="1" smtClean="0"/>
              <a:t>OpenCourseWare</a:t>
            </a:r>
            <a:r>
              <a:rPr lang="en-US" sz="2000" dirty="0"/>
              <a:t>),</a:t>
            </a:r>
            <a:r>
              <a:rPr lang="en-US" sz="2000" dirty="0">
                <a:hlinkClick r:id="rId3"/>
              </a:rPr>
              <a:t>http://ocw.mit.edu</a:t>
            </a:r>
            <a:r>
              <a:rPr lang="en-US" sz="2000" dirty="0"/>
              <a:t> (Accessed 13 Apr, 2015). License: </a:t>
            </a:r>
            <a:r>
              <a:rPr lang="en-US" sz="2000" dirty="0">
                <a:hlinkClick r:id="rId4"/>
              </a:rPr>
              <a:t>Creative Commons </a:t>
            </a:r>
            <a:r>
              <a:rPr lang="en-US" sz="2000" dirty="0" smtClean="0">
                <a:hlinkClick r:id="rId4"/>
              </a:rPr>
              <a:t>BY-NC-SA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9163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8.5"/>
  <p:tag name="ORIGINALWIDTH" val="52.5"/>
  <p:tag name="LATEXADDIN" val="\documentclass{article}&#10;\usepackage{amsmath}&#10;\pagestyle{empty}&#10;\begin{document}&#10;&#10;&#10;$\theta$&#10;&#10;&#10;&#10;\end{document}"/>
  <p:tag name="IGUANATEXSIZE" val="24"/>
  <p:tag name="IGUANATEXCURSOR" val="88"/>
  <p:tag name="TRANSPARENCY" val="True"/>
  <p:tag name="FILENAME" val=""/>
  <p:tag name="INPUTTYPE" val="0"/>
  <p:tag name="LATEXENGINEID" val="0"/>
  <p:tag name="TEMPFOLDER" val="C:\Users\Abhilash S\Documents\temp\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4.75"/>
  <p:tag name="ORIGINALWIDTH" val="103.5"/>
  <p:tag name="LATEXADDIN" val="\documentclass{article}&#10;\usepackage{amsmath}&#10;\pagestyle{empty}&#10;\begin{document}&#10;&#10;&#10;$X$&#10;&#10;&#10;&#10;\end{document}"/>
  <p:tag name="IGUANATEXSIZE" val="24"/>
  <p:tag name="IGUANATEXCURSOR" val="84"/>
  <p:tag name="TRANSPARENCY" val="True"/>
  <p:tag name="FILENAME" val=""/>
  <p:tag name="INPUTTYPE" val="0"/>
  <p:tag name="LATEXENGINEID" val="0"/>
  <p:tag name="TEMPFOLDER" val="C:\Users\Abhilash S\Documents\temp\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0.75"/>
  <p:tag name="ORIGINALWIDTH" val="54"/>
  <p:tag name="LATEXADDIN" val="\documentclass{article}&#10;\usepackage{amsmath}&#10;\pagestyle{empty}&#10;\begin{document}&#10;&#10;&#10;$\hat\theta$&#10;&#10;&#10;&#10;\end{document}"/>
  <p:tag name="IGUANATEXSIZE" val="24"/>
  <p:tag name="IGUANATEXCURSOR" val="87"/>
  <p:tag name="TRANSPARENCY" val="True"/>
  <p:tag name="FILENAME" val=""/>
  <p:tag name="INPUTTYPE" val="0"/>
  <p:tag name="LATEXENGINEID" val="0"/>
  <p:tag name="TEMPFOLDER" val="C:\Users\Abhilash S\Documents\temp\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4.75"/>
  <p:tag name="ORIGINALWIDTH" val="105.75"/>
  <p:tag name="LATEXADDIN" val="\documentclass{article}&#10;\usepackage{amsmath}&#10;\pagestyle{empty}&#10;\begin{document}&#10;&#10;&#10;$N$&#10;&#10;&#10;&#10;\end{document}"/>
  <p:tag name="IGUANATEXSIZE" val="24"/>
  <p:tag name="IGUANATEXCURSOR" val="84"/>
  <p:tag name="TRANSPARENCY" val="True"/>
  <p:tag name="FILENAME" val=""/>
  <p:tag name="INPUTTYPE" val="0"/>
  <p:tag name="LATEXENGINEID" val="0"/>
  <p:tag name="TEMPFOLDER" val="C:\Users\Abhilash S\Documents\temp\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6.25"/>
  <p:tag name="ORIGINALWIDTH" val="535.5"/>
  <p:tag name="LATEXADDIN" val="\documentclass{article}&#10;\usepackage{amsmath}&#10;\pagestyle{empty}&#10;\begin{document}&#10;&#10;&#10;$\text{Estimator}$&#10;&#10;&#10;&#10;\end{document}"/>
  <p:tag name="IGUANATEXSIZE" val="22"/>
  <p:tag name="IGUANATEXCURSOR" val="98"/>
  <p:tag name="TRANSPARENCY" val="True"/>
  <p:tag name="FILENAME" val=""/>
  <p:tag name="INPUTTYPE" val="0"/>
  <p:tag name="LATEXENGINEID" val="0"/>
  <p:tag name="TEMPFOLDER" val="C:\Users\Abhilash S\Documents\temp\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423"/>
  <p:tag name="LATEXADDIN" val="\documentclass{article}&#10;\usepackage{amsmath}&#10;\pagestyle{empty}&#10;\begin{document}&#10;&#10;&#10;$f_\textbf{X}(\textbf{x};\theta)$&#10;&#10;&#10;&#10;\end{document}"/>
  <p:tag name="IGUANATEXSIZE" val="24"/>
  <p:tag name="IGUANATEXCURSOR" val="94"/>
  <p:tag name="TRANSPARENCY" val="True"/>
  <p:tag name="FILENAME" val=""/>
  <p:tag name="INPUTTYPE" val="0"/>
  <p:tag name="LATEXENGINEID" val="0"/>
  <p:tag name="TEMPFOLDER" val="C:\Users\Abhilash S\Documents\temp\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423"/>
  <p:tag name="LATEXADDIN" val="\documentclass{article}&#10;\usepackage{amsmath}&#10;\pagestyle{empty}&#10;\begin{document}&#10;&#10;&#10;$f_\textbf{X}(\textbf{x};\theta)$&#10;&#10;&#10;&#10;\end{document}"/>
  <p:tag name="IGUANATEXSIZE" val="24"/>
  <p:tag name="IGUANATEXCURSOR" val="94"/>
  <p:tag name="TRANSPARENCY" val="True"/>
  <p:tag name="FILENAME" val=""/>
  <p:tag name="INPUTTYPE" val="0"/>
  <p:tag name="LATEXENGINEID" val="0"/>
  <p:tag name="TEMPFOLDER" val="C:\Users\Abhilash S\Documents\temp\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8.5"/>
  <p:tag name="ORIGINALWIDTH" val="52.5"/>
  <p:tag name="LATEXADDIN" val="\documentclass{article}&#10;\usepackage{amsmath}&#10;\pagestyle{empty}&#10;\begin{document}&#10;&#10;&#10;$\theta$&#10;&#10;&#10;&#10;\end{document}"/>
  <p:tag name="IGUANATEXSIZE" val="24"/>
  <p:tag name="IGUANATEXCURSOR" val="88"/>
  <p:tag name="TRANSPARENCY" val="True"/>
  <p:tag name="FILENAME" val=""/>
  <p:tag name="INPUTTYPE" val="0"/>
  <p:tag name="LATEXENGINEID" val="0"/>
  <p:tag name="TEMPFOLDER" val="C:\Users\Abhilash S\Documents\temp\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4.75"/>
  <p:tag name="ORIGINALWIDTH" val="103.5"/>
  <p:tag name="LATEXADDIN" val="\documentclass{article}&#10;\usepackage{amsmath}&#10;\pagestyle{empty}&#10;\begin{document}&#10;&#10;&#10;$X$&#10;&#10;&#10;&#10;\end{document}"/>
  <p:tag name="IGUANATEXSIZE" val="24"/>
  <p:tag name="IGUANATEXCURSOR" val="84"/>
  <p:tag name="TRANSPARENCY" val="True"/>
  <p:tag name="FILENAME" val=""/>
  <p:tag name="INPUTTYPE" val="0"/>
  <p:tag name="LATEXENGINEID" val="0"/>
  <p:tag name="TEMPFOLDER" val="C:\Users\Abhilash S\Documents\temp\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8.5"/>
  <p:tag name="ORIGINALWIDTH" val="52.5"/>
  <p:tag name="LATEXADDIN" val="\documentclass{article}&#10;\usepackage{amsmath}&#10;\pagestyle{empty}&#10;\begin{document}&#10;&#10;&#10;$\theta$&#10;&#10;&#10;&#10;\end{document}"/>
  <p:tag name="IGUANATEXSIZE" val="24"/>
  <p:tag name="IGUANATEXCURSOR" val="88"/>
  <p:tag name="TRANSPARENCY" val="True"/>
  <p:tag name="FILENAME" val=""/>
  <p:tag name="INPUTTYPE" val="0"/>
  <p:tag name="LATEXENGINEID" val="0"/>
  <p:tag name="TEMPFOLDER" val="C:\Users\Abhilash S\Documents\temp\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8.5"/>
  <p:tag name="ORIGINALWIDTH" val="52.5"/>
  <p:tag name="LATEXADDIN" val="\documentclass{article}&#10;\usepackage{amsmath}&#10;\pagestyle{empty}&#10;\begin{document}&#10;&#10;&#10;$\theta$&#10;&#10;&#10;&#10;\end{document}"/>
  <p:tag name="IGUANATEXSIZE" val="24"/>
  <p:tag name="IGUANATEXCURSOR" val="88"/>
  <p:tag name="TRANSPARENCY" val="True"/>
  <p:tag name="FILENAME" val=""/>
  <p:tag name="INPUTTYPE" val="0"/>
  <p:tag name="LATEXENGINEID" val="0"/>
  <p:tag name="TEMPFOLDER" val="C:\Users\Abhilash S\Documents\temp\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8.5"/>
  <p:tag name="ORIGINALWIDTH" val="52.5"/>
  <p:tag name="LATEXADDIN" val="\documentclass{article}&#10;\usepackage{amsmath}&#10;\pagestyle{empty}&#10;\begin{document}&#10;$\theta$&#10;\end{document}"/>
  <p:tag name="IGUANATEXSIZE" val="20"/>
  <p:tag name="IGUANATEXCURSOR" val="8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01"/>
  <p:tag name="ORIGINALWIDTH" val="1275.75"/>
  <p:tag name="LATEXADDIN" val="\documentclass{article}&#10;\usepackage{amsmath}&#10;\pagestyle{empty}&#10;\begin{document}&#10;$$\hat{\theta}_{ML}={\rm arg}\max_{\theta} f_{\bf X}({\bf x},\theta)$$&#10;\end{document}"/>
  <p:tag name="IGUANATEXSIZE" val="20"/>
  <p:tag name="IGUANATEXCURSOR" val="8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4.75"/>
  <p:tag name="ORIGINALWIDTH" val="71.25"/>
  <p:tag name="LATEXADDIN" val="\documentclass{article}&#10;\usepackage{amsmath}&#10;\pagestyle{empty}&#10;\begin{document}&#10;$${\bf x}$$&#10;\end{document}"/>
  <p:tag name="IGUANATEXSIZE" val="20"/>
  <p:tag name="IGUANATEXCURSOR" val="8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5.5"/>
  <p:tag name="ORIGINALWIDTH" val="100.5"/>
  <p:tag name="LATEXADDIN" val="\documentclass{article}&#10;\usepackage{amsmath}&#10;\pagestyle{empty}&#10;\begin{document}&#10;$${\bf X}$$&#10;\end{document}"/>
  <p:tag name="IGUANATEXSIZE" val="20"/>
  <p:tag name="IGUANATEXCURSOR" val="88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4.75"/>
  <p:tag name="ORIGINALWIDTH" val="71.25"/>
  <p:tag name="LATEXADDIN" val="\documentclass{article}&#10;\usepackage{amsmath}&#10;\pagestyle{empty}&#10;\begin{document}&#10;$${\bf x}$$&#10;\end{document}"/>
  <p:tag name="IGUANATEXSIZE" val="20"/>
  <p:tag name="IGUANATEXCURSOR" val="8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5.5"/>
  <p:tag name="ORIGINALWIDTH" val="100.5"/>
  <p:tag name="LATEXADDIN" val="\documentclass{article}&#10;\usepackage{amsmath}&#10;\pagestyle{empty}&#10;\begin{document}&#10;$${\bf X}$$&#10;\end{document}"/>
  <p:tag name="IGUANATEXSIZE" val="20"/>
  <p:tag name="IGUANATEXCURSOR" val="88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8"/>
  <p:tag name="ORIGINALWIDTH" val="889.5"/>
  <p:tag name="LATEXADDIN" val="\documentclass{article}&#10;\usepackage{amsmath}&#10;\pagestyle{empty}&#10;\begin{document}&#10;$f_{X_i}(x_i) = \theta e^{-\theta x_i}$&#10;\end{document}"/>
  <p:tag name="IGUANATEXSIZE" val="20"/>
  <p:tag name="IGUANATEXCURSOR" val="8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44.75"/>
  <p:tag name="ORIGINALWIDTH" val="1122"/>
  <p:tag name="LATEXADDIN" val="\documentclass{article}&#10;\usepackage{amsmath}&#10;\pagestyle{empty}&#10;\begin{document}&#10;$f_{{\bf X}}({\bf x}) = \prod_{i=1}^n \theta e^{-\theta x_i}$&#10;\end{document}"/>
  <p:tag name="IGUANATEXSIZE" val="20"/>
  <p:tag name="IGUANATEXCURSOR" val="10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44.75"/>
  <p:tag name="ORIGINALWIDTH" val="2132.25"/>
  <p:tag name="LATEXADDIN" val="\documentclass{article}&#10;\usepackage{amsmath}&#10;\pagestyle{empty}&#10;\begin{document}&#10;${\rm arg} \max_\theta f_{{\bf X}}({\bf x}) = {\rm arg} \max_\theta \prod_{i=1}^n \theta e^{-\theta x_i}$&#10;\end{document}"/>
  <p:tag name="IGUANATEXSIZE" val="20"/>
  <p:tag name="IGUANATEXCURSOR" val="12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1.75"/>
  <p:tag name="ORIGINALWIDTH" val="597"/>
  <p:tag name="LATEXADDIN" val="\documentclass{article}&#10;\usepackage{amsmath}&#10;\pagestyle{empty}&#10;\begin{document}&#10;$={\rm arg} \max_\theta $&#10;\end{document}"/>
  <p:tag name="IGUANATEXSIZE" val="20"/>
  <p:tag name="IGUANATEXCURSOR" val="8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202</Words>
  <Application>Microsoft Office PowerPoint</Application>
  <PresentationFormat>On-screen Show (4:3)</PresentationFormat>
  <Paragraphs>46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MS PGothic</vt:lpstr>
      <vt:lpstr>Akzidenz-Grotesk Pro Bold</vt:lpstr>
      <vt:lpstr>Arial</vt:lpstr>
      <vt:lpstr>Calibri</vt:lpstr>
      <vt:lpstr>Office Theme</vt:lpstr>
      <vt:lpstr>Introduction to Classical Statistics</vt:lpstr>
      <vt:lpstr>Maximum Likelihood Estimation</vt:lpstr>
      <vt:lpstr>Example</vt:lpstr>
      <vt:lpstr>Good Estimators</vt:lpstr>
      <vt:lpstr>PowerPoint Presentation</vt:lpstr>
      <vt:lpstr>Example: Estimating the Expectation</vt:lpstr>
      <vt:lpstr>PowerPoint Presentation</vt:lpstr>
      <vt:lpstr>Properties of the “Sample Mean”</vt:lpstr>
      <vt:lpstr>Confidence Intervals, or Interval Estimation</vt:lpstr>
      <vt:lpstr>Example</vt:lpstr>
      <vt:lpstr>PowerPoint Presentation</vt:lpstr>
      <vt:lpstr>Example Cont’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Cihan Tepedelenlioglu</dc:creator>
  <cp:lastModifiedBy>Abhilash Sureshbabu</cp:lastModifiedBy>
  <cp:revision>19</cp:revision>
  <dcterms:created xsi:type="dcterms:W3CDTF">2015-06-06T00:56:43Z</dcterms:created>
  <dcterms:modified xsi:type="dcterms:W3CDTF">2016-02-19T00:39:02Z</dcterms:modified>
</cp:coreProperties>
</file>