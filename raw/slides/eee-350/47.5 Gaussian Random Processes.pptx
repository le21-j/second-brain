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1" r:id="rId2"/>
    <p:sldId id="257" r:id="rId3"/>
    <p:sldId id="262" r:id="rId4"/>
    <p:sldId id="258" r:id="rId5"/>
    <p:sldId id="259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72F922-C597-4C07-A984-87CF785F55A5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BD333E-12A1-401A-A995-347484993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12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79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11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1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70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9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6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466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19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4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542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28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1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8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391E9-5521-4889-B53A-BD35049977E9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E6657-3D97-4417-9FB7-D73F2188B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7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5.xml"/><Relationship Id="rId7" Type="http://schemas.openxmlformats.org/officeDocument/2006/relationships/image" Target="../media/image3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Recall White Gaussian RP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9094" y="2005781"/>
            <a:ext cx="7579191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White Gaussian random process</a:t>
            </a: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A Gaussian RV for each </a:t>
            </a:r>
            <a:r>
              <a:rPr lang="en-US" sz="2000" i="1" dirty="0" smtClean="0">
                <a:sym typeface="Symbol" panose="05050102010706020507" pitchFamily="18" charset="2"/>
              </a:rPr>
              <a:t>t </a:t>
            </a:r>
            <a:r>
              <a:rPr lang="en-US" sz="2000" dirty="0" smtClean="0">
                <a:sym typeface="Symbol" panose="05050102010706020507" pitchFamily="18" charset="2"/>
              </a:rPr>
              <a:t>(discrete)</a:t>
            </a:r>
          </a:p>
          <a:p>
            <a:pPr marL="800100" lvl="1" indent="-342900">
              <a:buFont typeface="Symbol"/>
              <a:buChar char="·"/>
            </a:pPr>
            <a:endParaRPr lang="en-US" sz="2000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Each sample has the same distribution (e.g., 0 mean, and </a:t>
            </a:r>
            <a:r>
              <a:rPr lang="en-US" sz="2000" dirty="0" err="1" smtClean="0">
                <a:sym typeface="Symbol" panose="05050102010706020507" pitchFamily="18" charset="2"/>
              </a:rPr>
              <a:t>var</a:t>
            </a:r>
            <a:r>
              <a:rPr lang="en-US" sz="2000" dirty="0" smtClean="0">
                <a:sym typeface="Symbol" panose="05050102010706020507" pitchFamily="18" charset="2"/>
              </a:rPr>
              <a:t> 1)</a:t>
            </a:r>
          </a:p>
          <a:p>
            <a:pPr marL="800100" lvl="1" indent="-342900">
              <a:buFont typeface="Symbol"/>
              <a:buChar char="·"/>
            </a:pPr>
            <a:endParaRPr lang="en-US" sz="2000" i="1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Independent RVs for different </a:t>
            </a:r>
            <a:r>
              <a:rPr lang="en-US" sz="2000" i="1" dirty="0" smtClean="0">
                <a:sym typeface="Symbol" panose="05050102010706020507" pitchFamily="18" charset="2"/>
              </a:rPr>
              <a:t>t</a:t>
            </a:r>
            <a:r>
              <a:rPr lang="en-US" sz="2000" dirty="0" smtClean="0">
                <a:sym typeface="Symbol" panose="05050102010706020507" pitchFamily="18" charset="2"/>
              </a:rPr>
              <a:t>, no matter how many samples</a:t>
            </a:r>
          </a:p>
          <a:p>
            <a:pPr marL="800100" lvl="1" indent="-342900">
              <a:buFont typeface="Symbol"/>
              <a:buChar char="·"/>
            </a:pPr>
            <a:endParaRPr lang="en-US" sz="2000" i="1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r>
              <a:rPr lang="en-US" sz="2000" i="1" dirty="0" smtClean="0">
                <a:sym typeface="Symbol" panose="05050102010706020507" pitchFamily="18" charset="2"/>
              </a:rPr>
              <a:t>E.g.                                        </a:t>
            </a:r>
            <a:r>
              <a:rPr lang="en-US" sz="2000" dirty="0" smtClean="0">
                <a:sym typeface="Symbol" panose="05050102010706020507" pitchFamily="18" charset="2"/>
              </a:rPr>
              <a:t>are independent RVs</a:t>
            </a:r>
            <a:r>
              <a:rPr lang="en-US" sz="2000" i="1" dirty="0" smtClean="0">
                <a:sym typeface="Symbol" panose="05050102010706020507" pitchFamily="18" charset="2"/>
              </a:rPr>
              <a:t> </a:t>
            </a:r>
          </a:p>
          <a:p>
            <a:pPr marL="800100" lvl="1" indent="-342900">
              <a:buFont typeface="Symbol"/>
              <a:buChar char="·"/>
            </a:pPr>
            <a:endParaRPr lang="en-US" sz="2000" i="1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i="1" dirty="0">
              <a:sym typeface="Symbol" panose="05050102010706020507" pitchFamily="18" charset="2"/>
            </a:endParaRPr>
          </a:p>
          <a:p>
            <a:pPr lvl="1"/>
            <a:r>
              <a:rPr lang="en-US" sz="2000" dirty="0" smtClean="0">
                <a:sym typeface="Symbol" panose="05050102010706020507" pitchFamily="18" charset="2"/>
              </a:rPr>
              <a:t>                                                    </a:t>
            </a:r>
            <a:endParaRPr lang="en-US" sz="2000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814" y="2110209"/>
            <a:ext cx="272796" cy="2118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406" y="4514160"/>
            <a:ext cx="1947672" cy="25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618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“Filtered” Gaussian RP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2590800"/>
            <a:ext cx="5946115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Moving average over the white RP</a:t>
            </a: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      still Gaussian RV for each </a:t>
            </a:r>
            <a:r>
              <a:rPr lang="en-US" sz="2000" i="1" dirty="0" smtClean="0">
                <a:sym typeface="Symbol" panose="05050102010706020507" pitchFamily="18" charset="2"/>
              </a:rPr>
              <a:t>t </a:t>
            </a:r>
            <a:r>
              <a:rPr lang="en-US" sz="2000" dirty="0" smtClean="0">
                <a:sym typeface="Symbol" panose="05050102010706020507" pitchFamily="18" charset="2"/>
              </a:rPr>
              <a:t>(why?)</a:t>
            </a:r>
          </a:p>
          <a:p>
            <a:pPr marL="800100" lvl="1" indent="-342900">
              <a:buFont typeface="Symbol"/>
              <a:buChar char="·"/>
            </a:pPr>
            <a:endParaRPr lang="en-US" sz="2000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What are the expectation and variance of        ? </a:t>
            </a:r>
          </a:p>
          <a:p>
            <a:pPr marL="800100" lvl="1" indent="-342900">
              <a:buFont typeface="Symbol"/>
              <a:buChar char="·"/>
            </a:pPr>
            <a:endParaRPr lang="en-US" sz="2000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Each sample has the same distribution</a:t>
            </a:r>
          </a:p>
          <a:p>
            <a:pPr marL="800100" lvl="1" indent="-342900">
              <a:buFont typeface="Symbol"/>
              <a:buChar char="·"/>
            </a:pPr>
            <a:endParaRPr lang="en-US" sz="2000" i="1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Not independent anymore!</a:t>
            </a:r>
          </a:p>
          <a:p>
            <a:pPr marL="800100" lvl="1" indent="-342900">
              <a:buFont typeface="Symbol"/>
              <a:buChar char="·"/>
            </a:pPr>
            <a:endParaRPr lang="en-US" sz="2000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Find covariance:</a:t>
            </a:r>
          </a:p>
          <a:p>
            <a:pPr marL="800100" lvl="1" indent="-342900">
              <a:buFont typeface="Symbol"/>
              <a:buChar char="·"/>
            </a:pPr>
            <a:endParaRPr lang="en-US" sz="2000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Only a function of the time difference!</a:t>
            </a:r>
          </a:p>
          <a:p>
            <a:pPr marL="800100" lvl="1" indent="-342900">
              <a:buFont typeface="Symbol"/>
              <a:buChar char="·"/>
            </a:pPr>
            <a:endParaRPr lang="en-US" sz="2000" i="1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i="1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i="1" dirty="0">
              <a:sym typeface="Symbol" panose="05050102010706020507" pitchFamily="18" charset="2"/>
            </a:endParaRPr>
          </a:p>
          <a:p>
            <a:pPr lvl="1"/>
            <a:r>
              <a:rPr lang="en-US" sz="2000" dirty="0" smtClean="0">
                <a:sym typeface="Symbol" panose="05050102010706020507" pitchFamily="18" charset="2"/>
              </a:rPr>
              <a:t>                                                    </a:t>
            </a:r>
            <a:endParaRPr lang="en-US" sz="2000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828800"/>
            <a:ext cx="1702308" cy="2118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664" y="3276600"/>
            <a:ext cx="298222" cy="304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263" y="3916785"/>
            <a:ext cx="207264" cy="2118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5715000"/>
            <a:ext cx="1450848" cy="25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911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6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Filtered Gaussian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" y="2743200"/>
            <a:ext cx="5135893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Moving average over the white RP</a:t>
            </a:r>
          </a:p>
          <a:p>
            <a:pPr marL="800100" lvl="1" indent="-342900">
              <a:buFont typeface="Symbol"/>
              <a:buChar char="·"/>
            </a:pPr>
            <a:endParaRPr lang="en-US" sz="2000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r>
              <a:rPr lang="en-US" sz="2000" dirty="0" smtClean="0">
                <a:sym typeface="Symbol" panose="05050102010706020507" pitchFamily="18" charset="2"/>
              </a:rPr>
              <a:t>What are the expect. var. and </a:t>
            </a:r>
            <a:r>
              <a:rPr lang="en-US" sz="2000" dirty="0" err="1" smtClean="0">
                <a:sym typeface="Symbol" panose="05050102010706020507" pitchFamily="18" charset="2"/>
              </a:rPr>
              <a:t>cov</a:t>
            </a:r>
            <a:r>
              <a:rPr lang="en-US" sz="2000" dirty="0" smtClean="0">
                <a:sym typeface="Symbol" panose="05050102010706020507" pitchFamily="18" charset="2"/>
              </a:rPr>
              <a:t>. now?</a:t>
            </a: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i="1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i="1" dirty="0">
              <a:sym typeface="Symbol" panose="05050102010706020507" pitchFamily="18" charset="2"/>
            </a:endParaRPr>
          </a:p>
          <a:p>
            <a:pPr lvl="1"/>
            <a:r>
              <a:rPr lang="en-US" sz="2000" dirty="0" smtClean="0">
                <a:sym typeface="Symbol" panose="05050102010706020507" pitchFamily="18" charset="2"/>
              </a:rPr>
              <a:t>                                                    </a:t>
            </a:r>
            <a:endParaRPr lang="en-US" sz="2000" dirty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pPr marL="800100" lvl="1" indent="-342900">
              <a:buFont typeface="Symbol"/>
              <a:buChar char="·"/>
            </a:pPr>
            <a:endParaRPr lang="en-US" sz="2000" dirty="0" smtClean="0">
              <a:sym typeface="Symbol" panose="05050102010706020507" pitchFamily="18" charset="2"/>
            </a:endParaRPr>
          </a:p>
          <a:p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828800"/>
            <a:ext cx="1790700" cy="745236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657600"/>
            <a:ext cx="3951287" cy="295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638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endParaRPr lang="en-US" sz="3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8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20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94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25"/>
  <p:tag name="ORIGINALWIDTH" val="134.25"/>
  <p:tag name="LATEXADDIN" val="\documentclass{article}&#10;\usepackage{amsmath}&#10;\pagestyle{empty}&#10;\begin{document}&#10;$$X_t$$&#10;\end{document}"/>
  <p:tag name="IGUANATEXSIZE" val="20"/>
  <p:tag name="IGUANATEXCURSOR" val="8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958.5"/>
  <p:tag name="LATEXADDIN" val="\documentclass{article}&#10;\usepackage{amsmath}&#10;\pagestyle{empty}&#10;\begin{document}&#10;$$\{X_0,X_2,X_3,X_{10}\}$$&#10;\end{document}"/>
  <p:tag name="IGUANATEXSIZE" val="20"/>
  <p:tag name="IGUANATEXCURSOR" val="10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25"/>
  <p:tag name="ORIGINALWIDTH" val="837.75"/>
  <p:tag name="LATEXADDIN" val="\documentclass{article}&#10;\usepackage{amsmath}&#10;\pagestyle{empty}&#10;\begin{document}&#10;$$Y_t = X_t + X_{t-1}$$&#10;\end{document}"/>
  <p:tag name="IGUANATEXSIZE" val="20"/>
  <p:tag name="IGUANATEXCURSOR" val="10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25"/>
  <p:tag name="ORIGINALWIDTH" val="102"/>
  <p:tag name="LATEXADDIN" val="\documentclass{article}&#10;\usepackage{amsmath}&#10;\pagestyle{empty}&#10;\begin{document}&#10;$$Y_t$$&#10;\end{document}"/>
  <p:tag name="IGUANATEXSIZE" val="20"/>
  <p:tag name="IGUANATEXCURSOR" val="8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4.25"/>
  <p:tag name="ORIGINALWIDTH" val="102"/>
  <p:tag name="LATEXADDIN" val="\documentclass{article}&#10;\usepackage{amsmath}&#10;\pagestyle{empty}&#10;\begin{document}&#10;$$Y_t$$&#10;\end{document}"/>
  <p:tag name="IGUANATEXSIZE" val="20"/>
  <p:tag name="IGUANATEXCURSOR" val="8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24.5"/>
  <p:tag name="ORIGINALWIDTH" val="714"/>
  <p:tag name="LATEXADDIN" val="\documentclass{article}&#10;\usepackage{amsmath}&#10;\pagestyle{empty}&#10;\begin{document}&#10;$${\rm Cov}(Y_t,Y_{t+\tau})$$&#10;\end{document}"/>
  <p:tag name="IGUANATEXSIZE" val="20"/>
  <p:tag name="IGUANATEXCURSOR" val="10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66.75"/>
  <p:tag name="ORIGINALWIDTH" val="881.25"/>
  <p:tag name="LATEXADDIN" val="\documentclass{article}&#10;\usepackage{amsmath}&#10;\pagestyle{empty}&#10;\begin{document}&#10;$$Y_t = \sum_{k=0}^K h_k X_{t-k}$$&#10;\end{document}"/>
  <p:tag name="IGUANATEXSIZE" val="20"/>
  <p:tag name="IGUANATEXCURSOR" val="1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160</Words>
  <Application>Microsoft Office PowerPoint</Application>
  <PresentationFormat>On-screen Show (4:3)</PresentationFormat>
  <Paragraphs>58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MS PGothic</vt:lpstr>
      <vt:lpstr>Akzidenz-Grotesk Pro Bold</vt:lpstr>
      <vt:lpstr>Arial</vt:lpstr>
      <vt:lpstr>Calibri</vt:lpstr>
      <vt:lpstr>Symbol</vt:lpstr>
      <vt:lpstr>Office Theme</vt:lpstr>
      <vt:lpstr>Recall White Gaussian RP</vt:lpstr>
      <vt:lpstr>“Filtered” Gaussian RP</vt:lpstr>
      <vt:lpstr>PowerPoint Presentation</vt:lpstr>
      <vt:lpstr>Filtered Gaussian Cont’</vt:lpstr>
      <vt:lpstr>PowerPoint Presentation</vt:lpstr>
      <vt:lpstr>PowerPoint Presentation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Cards Problem</dc:title>
  <dc:creator>Cihan Tepedelenlioglu</dc:creator>
  <cp:lastModifiedBy>Abhilash Sureshbabu</cp:lastModifiedBy>
  <cp:revision>11</cp:revision>
  <dcterms:created xsi:type="dcterms:W3CDTF">2015-09-26T00:20:12Z</dcterms:created>
  <dcterms:modified xsi:type="dcterms:W3CDTF">2016-02-19T00:42:36Z</dcterms:modified>
</cp:coreProperties>
</file>