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8"/>
  </p:notesMasterIdLst>
  <p:sldIdLst>
    <p:sldId id="257" r:id="rId3"/>
    <p:sldId id="260" r:id="rId4"/>
    <p:sldId id="258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8859FF-2F89-4A1F-98A7-B12FE16F7BD0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4DA40-D2F3-4CE2-AB3F-815310DC3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66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B8A5A-2325-4AB5-90FE-10C0BF4D2D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32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23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740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4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36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222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32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3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220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02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4291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578515" cy="1263316"/>
          </a:xfrm>
        </p:spPr>
        <p:txBody>
          <a:bodyPr anchor="b">
            <a:normAutofit/>
          </a:bodyPr>
          <a:lstStyle>
            <a:lvl1pPr algn="ctr">
              <a:lnSpc>
                <a:spcPct val="300000"/>
              </a:lnSpc>
              <a:defRPr sz="480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4463716"/>
          </a:xfrm>
        </p:spPr>
        <p:txBody>
          <a:bodyPr/>
          <a:lstStyle>
            <a:lvl1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25531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53381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70687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6041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1967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45684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4933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2697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00809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011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53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2879E-DF74-4F94-98BF-D111E5A7F1A7}" type="datetimeFigureOut">
              <a:rPr lang="en-US" smtClean="0"/>
              <a:t>2/18/2016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F14A1-DA80-469A-B7ED-4F64C547DD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59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C0855-9D9F-4719-AFA7-3353C6AF744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2/18/2016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DE1CBF-DE0B-42F3-A58B-EED22FEA284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710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cw.mit.edu/courses/electrical-engineering-and-computer-science/6-041-probabilistic-systems-analysis-and-applied-probability-fall-201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creativecommons.org/licenses/by-nc-sa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Random Variables</a:t>
            </a:r>
            <a:endParaRPr lang="en-US" sz="3600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98523"/>
            <a:ext cx="4925216" cy="324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32" y="5161935"/>
            <a:ext cx="2519218" cy="109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29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506" y="218907"/>
            <a:ext cx="8684794" cy="1263316"/>
          </a:xfrm>
        </p:spPr>
        <p:txBody>
          <a:bodyPr>
            <a:noAutofit/>
          </a:bodyPr>
          <a:lstStyle/>
          <a:p>
            <a:r>
              <a:rPr lang="en-US" dirty="0" smtClean="0"/>
              <a:t>Random Variables Terminology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507" y="1371600"/>
            <a:ext cx="8578514" cy="52705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RVs are just tagging numerical values to experiments.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 probability assignment to outcomes can be expressed in terms of the RVs.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There are different ways to do this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          </a:t>
            </a:r>
            <a:r>
              <a:rPr lang="en-US" sz="1600" dirty="0" smtClean="0">
                <a:sym typeface="Symbol" panose="05050102010706020507" pitchFamily="18" charset="2"/>
              </a:rPr>
              <a:t>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smtClean="0"/>
              <a:t>Discrete      PMF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 smtClean="0"/>
              <a:t>          </a:t>
            </a:r>
            <a:r>
              <a:rPr lang="en-US" sz="1600" dirty="0" smtClean="0">
                <a:sym typeface="Symbol" panose="05050102010706020507" pitchFamily="18" charset="2"/>
              </a:rPr>
              <a:t></a:t>
            </a:r>
            <a:r>
              <a:rPr lang="en-US" dirty="0" smtClean="0">
                <a:sym typeface="Symbol" panose="05050102010706020507" pitchFamily="18" charset="2"/>
              </a:rPr>
              <a:t> </a:t>
            </a:r>
            <a:r>
              <a:rPr lang="en-US" dirty="0" smtClean="0"/>
              <a:t>Continuous      PDF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When we talk about the “distribution” of a RV we talk about one of these ways.</a:t>
            </a:r>
          </a:p>
          <a:p>
            <a:pPr>
              <a:lnSpc>
                <a:spcPct val="100000"/>
              </a:lnSpc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293" y="4216400"/>
            <a:ext cx="270662" cy="170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662" y="4902200"/>
            <a:ext cx="270662" cy="17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292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Probability Mass Function</a:t>
            </a:r>
            <a:endParaRPr lang="en-US" sz="3600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8800"/>
            <a:ext cx="4419600" cy="7808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3079955"/>
            <a:ext cx="4210831" cy="3409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42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kern="0" dirty="0" smtClean="0">
                <a:solidFill>
                  <a:srgbClr val="FFB310"/>
                </a:solidFill>
                <a:latin typeface="Arial"/>
                <a:ea typeface="MS PGothic" pitchFamily="34" charset="-128"/>
                <a:sym typeface="Akzidenz-Grotesk Pro Bold" charset="0"/>
              </a:rPr>
              <a:t>Example</a:t>
            </a:r>
            <a:endParaRPr lang="en-US" sz="36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43548"/>
            <a:ext cx="3648075" cy="982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041" y="2843213"/>
            <a:ext cx="3792391" cy="2681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2" y="5791200"/>
            <a:ext cx="18573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2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0"/>
            <a:ext cx="7772400" cy="2228850"/>
          </a:xfrm>
        </p:spPr>
        <p:txBody>
          <a:bodyPr>
            <a:normAutofit/>
          </a:bodyPr>
          <a:lstStyle/>
          <a:p>
            <a:pPr algn="l"/>
            <a:r>
              <a:rPr lang="en-US" sz="3600" dirty="0" smtClean="0">
                <a:solidFill>
                  <a:srgbClr val="FFC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Acknowledgements and Citations</a:t>
            </a:r>
            <a:endParaRPr lang="en-US" sz="3600" dirty="0">
              <a:solidFill>
                <a:srgbClr val="FFC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8B4222-A652-4E37-94A2-0ECD2149120D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757381" y="1676400"/>
            <a:ext cx="69549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cs typeface="Arial" panose="020B0604020202020204" pitchFamily="34" charset="0"/>
              </a:rPr>
              <a:t>Parts of these slides are adapted from the following 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711" y="3048000"/>
            <a:ext cx="695498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Power Point Lecture Slides for the Textbook </a:t>
            </a:r>
            <a:r>
              <a:rPr lang="en-US" sz="2000" dirty="0" smtClean="0"/>
              <a:t>http</a:t>
            </a:r>
            <a:r>
              <a:rPr lang="en-US" sz="2000" dirty="0"/>
              <a:t>://</a:t>
            </a:r>
            <a:r>
              <a:rPr lang="en-US" sz="2000" dirty="0" smtClean="0"/>
              <a:t>bcs.wiley.com/hebcs/Books?action=index&amp;bcsId=8676&amp;itemId=1118324560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John </a:t>
            </a:r>
            <a:r>
              <a:rPr lang="en-US" sz="2000" dirty="0" err="1"/>
              <a:t>Tsitsiklis</a:t>
            </a:r>
            <a:r>
              <a:rPr lang="en-US" sz="2000" dirty="0"/>
              <a:t>. </a:t>
            </a:r>
            <a:r>
              <a:rPr lang="en-US" sz="2000" i="1" dirty="0"/>
              <a:t>6.041 Probabilistic Systems Analysis and Applied Probability, Fall 2010</a:t>
            </a:r>
            <a:r>
              <a:rPr lang="en-US" sz="2000" dirty="0"/>
              <a:t>. (Massachusetts Institute of Technology: </a:t>
            </a:r>
            <a:r>
              <a:rPr lang="en-US" sz="2000" dirty="0" smtClean="0"/>
              <a:t>MIT </a:t>
            </a:r>
            <a:r>
              <a:rPr lang="en-US" sz="2000" dirty="0" err="1" smtClean="0"/>
              <a:t>OpenCourseWare</a:t>
            </a:r>
            <a:r>
              <a:rPr lang="en-US" sz="2000" dirty="0"/>
              <a:t>),</a:t>
            </a:r>
            <a:r>
              <a:rPr lang="en-US" sz="2000" dirty="0">
                <a:hlinkClick r:id="rId3"/>
              </a:rPr>
              <a:t>http://ocw.mit.edu</a:t>
            </a:r>
            <a:r>
              <a:rPr lang="en-US" sz="2000" dirty="0"/>
              <a:t> (Accessed 13 Apr, 2015). License: </a:t>
            </a:r>
            <a:r>
              <a:rPr lang="en-US" sz="2000" dirty="0">
                <a:hlinkClick r:id="rId4"/>
              </a:rPr>
              <a:t>Creative Commons </a:t>
            </a:r>
            <a:r>
              <a:rPr lang="en-US" sz="2000" dirty="0" smtClean="0">
                <a:hlinkClick r:id="rId4"/>
              </a:rPr>
              <a:t>BY-NC-SA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4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75"/>
  <p:tag name="ORIGINALWIDTH" val="111"/>
  <p:tag name="LATEXADDIN" val="\documentclass{article}&#10;\usepackage{amsmath}&#10;\pagestyle{empty}&#10;\begin{document}&#10;&#10;&#10;$\Rightarrow$&#10;&#10;&#10;&#10;\end{document}"/>
  <p:tag name="IGUANATEXSIZE" val="24"/>
  <p:tag name="IGUANATEXCURSOR" val="95"/>
  <p:tag name="TRANSPARENCY" val="True"/>
  <p:tag name="FILENAME" val=""/>
  <p:tag name="INPUTTYPE" val="0"/>
  <p:tag name="LATEXENGINEID" val="0"/>
  <p:tag name="TEMPFOLDER" val="C:\Users\Abhilash S\Documents\temp\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9.75"/>
  <p:tag name="ORIGINALWIDTH" val="111"/>
  <p:tag name="LATEXADDIN" val="\documentclass{article}&#10;\usepackage{amsmath}&#10;\pagestyle{empty}&#10;\begin{document}&#10;&#10;&#10;$\Rightarrow$&#10;&#10;&#10;&#10;\end{document}"/>
  <p:tag name="IGUANATEXSIZE" val="24"/>
  <p:tag name="IGUANATEXCURSOR" val="95"/>
  <p:tag name="TRANSPARENCY" val="True"/>
  <p:tag name="FILENAME" val=""/>
  <p:tag name="INPUTTYPE" val="0"/>
  <p:tag name="LATEXENGINEID" val="0"/>
  <p:tag name="TEMPFOLDER" val="C:\Users\Abhilash S\Documents\temp\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</Words>
  <Application>Microsoft Office PowerPoint</Application>
  <PresentationFormat>On-screen Show (4:3)</PresentationFormat>
  <Paragraphs>19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MS PGothic</vt:lpstr>
      <vt:lpstr>Akzidenz-Grotesk Pro Bold</vt:lpstr>
      <vt:lpstr>Arial</vt:lpstr>
      <vt:lpstr>Calibri</vt:lpstr>
      <vt:lpstr>Symbol</vt:lpstr>
      <vt:lpstr>Office Theme</vt:lpstr>
      <vt:lpstr>1_Office Theme</vt:lpstr>
      <vt:lpstr>Random Variables</vt:lpstr>
      <vt:lpstr>Random Variables Terminology</vt:lpstr>
      <vt:lpstr>Probability Mass Function</vt:lpstr>
      <vt:lpstr>Example</vt:lpstr>
      <vt:lpstr>Acknowledgements and Citations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 Variables</dc:title>
  <dc:creator>Cihan Tepedelenlioglu</dc:creator>
  <cp:lastModifiedBy>Abhilash Sureshbabu</cp:lastModifiedBy>
  <cp:revision>3</cp:revision>
  <dcterms:created xsi:type="dcterms:W3CDTF">2015-06-06T00:27:54Z</dcterms:created>
  <dcterms:modified xsi:type="dcterms:W3CDTF">2016-02-19T00:09:29Z</dcterms:modified>
</cp:coreProperties>
</file>