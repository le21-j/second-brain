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  <p:sldMasterId id="2147483696" r:id="rId3"/>
    <p:sldMasterId id="2147483708" r:id="rId4"/>
    <p:sldMasterId id="2147483660" r:id="rId5"/>
    <p:sldMasterId id="2147483672" r:id="rId6"/>
    <p:sldMasterId id="2147483722" r:id="rId7"/>
    <p:sldMasterId id="2147483734" r:id="rId8"/>
  </p:sldMasterIdLst>
  <p:notesMasterIdLst>
    <p:notesMasterId r:id="rId19"/>
  </p:notesMasterIdLst>
  <p:sldIdLst>
    <p:sldId id="261" r:id="rId9"/>
    <p:sldId id="257" r:id="rId10"/>
    <p:sldId id="262" r:id="rId11"/>
    <p:sldId id="258" r:id="rId12"/>
    <p:sldId id="265" r:id="rId13"/>
    <p:sldId id="263" r:id="rId14"/>
    <p:sldId id="259" r:id="rId15"/>
    <p:sldId id="264" r:id="rId16"/>
    <p:sldId id="260" r:id="rId17"/>
    <p:sldId id="266" r:id="rId18"/>
  </p:sldIdLst>
  <p:sldSz cx="9144000" cy="6858000" type="screen4x3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37B67-BE2E-43FC-AF67-443D9E7EBE6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69"/>
            <a:ext cx="3037840" cy="4618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9EA2A-D500-4FA5-9A2A-B3D662137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609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95388" y="692150"/>
            <a:ext cx="4619625" cy="34639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210760-0F6A-4FD3-880E-83945FB90F75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27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88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51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401C-A701-464C-B8EC-54B6F1D0B63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3A61-0A22-4D62-911B-2DBF19B6A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6251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401C-A701-464C-B8EC-54B6F1D0B63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3A61-0A22-4D62-911B-2DBF19B6A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7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2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401C-A701-464C-B8EC-54B6F1D0B63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3A61-0A22-4D62-911B-2DBF19B6A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006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401C-A701-464C-B8EC-54B6F1D0B63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3A61-0A22-4D62-911B-2DBF19B6A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588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8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401C-A701-464C-B8EC-54B6F1D0B63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3A61-0A22-4D62-911B-2DBF19B6A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323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401C-A701-464C-B8EC-54B6F1D0B63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3A61-0A22-4D62-911B-2DBF19B6A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403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401C-A701-464C-B8EC-54B6F1D0B63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3A61-0A22-4D62-911B-2DBF19B6A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85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401C-A701-464C-B8EC-54B6F1D0B63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3A61-0A22-4D62-911B-2DBF19B6A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73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401C-A701-464C-B8EC-54B6F1D0B63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3A61-0A22-4D62-911B-2DBF19B6A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561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401C-A701-464C-B8EC-54B6F1D0B63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3A61-0A22-4D62-911B-2DBF19B6A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33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9401C-A701-464C-B8EC-54B6F1D0B63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23A61-0A22-4D62-911B-2DBF19B6A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462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9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83B7-186B-497D-BE92-1F5FAA054F5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9B-F973-4A4A-A7D3-8CD48BDAF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397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83B7-186B-497D-BE92-1F5FAA054F5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9B-F973-4A4A-A7D3-8CD48BDAF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863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1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83B7-186B-497D-BE92-1F5FAA054F5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9B-F973-4A4A-A7D3-8CD48BDAF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2039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83B7-186B-497D-BE92-1F5FAA054F5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9B-F973-4A4A-A7D3-8CD48BDAF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296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2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2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83B7-186B-497D-BE92-1F5FAA054F5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9B-F973-4A4A-A7D3-8CD48BDAF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83B7-186B-497D-BE92-1F5FAA054F5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9B-F973-4A4A-A7D3-8CD48BDAF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969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83B7-186B-497D-BE92-1F5FAA054F5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9B-F973-4A4A-A7D3-8CD48BDAF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4231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83B7-186B-497D-BE92-1F5FAA054F5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9B-F973-4A4A-A7D3-8CD48BDAF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77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83B7-186B-497D-BE92-1F5FAA054F5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9B-F973-4A4A-A7D3-8CD48BDAF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170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83B7-186B-497D-BE92-1F5FAA054F5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9B-F973-4A4A-A7D3-8CD48BDAF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000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083B7-186B-497D-BE92-1F5FAA054F5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B299B-F973-4A4A-A7D3-8CD48BDAF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6406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9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374C-8DBB-4040-9E55-94B848D5744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AD0F-6AF2-4676-9A93-B79E57EA5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0940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374C-8DBB-4040-9E55-94B848D5744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AD0F-6AF2-4676-9A93-B79E57EA5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22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1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374C-8DBB-4040-9E55-94B848D5744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AD0F-6AF2-4676-9A93-B79E57EA5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7772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374C-8DBB-4040-9E55-94B848D5744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AD0F-6AF2-4676-9A93-B79E57EA5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5838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2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2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374C-8DBB-4040-9E55-94B848D5744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AD0F-6AF2-4676-9A93-B79E57EA5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862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374C-8DBB-4040-9E55-94B848D5744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AD0F-6AF2-4676-9A93-B79E57EA5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8799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374C-8DBB-4040-9E55-94B848D5744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AD0F-6AF2-4676-9A93-B79E57EA5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5359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374C-8DBB-4040-9E55-94B848D5744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AD0F-6AF2-4676-9A93-B79E57EA5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8105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374C-8DBB-4040-9E55-94B848D5744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AD0F-6AF2-4676-9A93-B79E57EA5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0489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374C-8DBB-4040-9E55-94B848D5744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AD0F-6AF2-4676-9A93-B79E57EA5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7995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374C-8DBB-4040-9E55-94B848D5744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0AD0F-6AF2-4676-9A93-B79E57EA5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5994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9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9A0D9-DB96-4724-99F2-D7CC84D4B19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DDA19-9A5D-42ED-B2FE-0678486D1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044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9A0D9-DB96-4724-99F2-D7CC84D4B19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DDA19-9A5D-42ED-B2FE-0678486D1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6932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1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9A0D9-DB96-4724-99F2-D7CC84D4B19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DDA19-9A5D-42ED-B2FE-0678486D1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1556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9A0D9-DB96-4724-99F2-D7CC84D4B19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DDA19-9A5D-42ED-B2FE-0678486D1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223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2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2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9A0D9-DB96-4724-99F2-D7CC84D4B19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DDA19-9A5D-42ED-B2FE-0678486D1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131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9A0D9-DB96-4724-99F2-D7CC84D4B19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DDA19-9A5D-42ED-B2FE-0678486D1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95742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9A0D9-DB96-4724-99F2-D7CC84D4B19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DDA19-9A5D-42ED-B2FE-0678486D1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81421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9A0D9-DB96-4724-99F2-D7CC84D4B19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DDA19-9A5D-42ED-B2FE-0678486D1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971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9A0D9-DB96-4724-99F2-D7CC84D4B19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DDA19-9A5D-42ED-B2FE-0678486D1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12461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9A0D9-DB96-4724-99F2-D7CC84D4B19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DDA19-9A5D-42ED-B2FE-0678486D1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7609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9A0D9-DB96-4724-99F2-D7CC84D4B19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DDA19-9A5D-42ED-B2FE-0678486D1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1309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9A0D9-DB96-4724-99F2-D7CC84D4B19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DDA19-9A5D-42ED-B2FE-0678486D1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6211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9A0D9-DB96-4724-99F2-D7CC84D4B19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DDA19-9A5D-42ED-B2FE-0678486D1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475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03145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81411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458948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21490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02390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6561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02533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9681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34784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43655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39803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07038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5074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8966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458948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88233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61793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29024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97313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27051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6637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35676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32319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47438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07515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26073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4589472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00628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9644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44434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4219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21102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39220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54561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48234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62235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87755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35630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70320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64493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1645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92211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66501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81433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04625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58047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391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9401C-A701-464C-B8EC-54B6F1D0B63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23A61-0A22-4D62-911B-2DBF19B6A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922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6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A083B7-186B-497D-BE92-1F5FAA054F5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6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6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B299B-F973-4A4A-A7D3-8CD48BDAF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01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6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D374C-8DBB-4040-9E55-94B848D5744C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6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6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0AD0F-6AF2-4676-9A93-B79E57EA5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394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6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9A0D9-DB96-4724-99F2-D7CC84D4B19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6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6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DDA19-9A5D-42ED-B2FE-0678486D1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40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7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8779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FFC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7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7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7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57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FFC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9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8583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FFC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9D9A34-41B4-436F-BBD1-1AB656C5E6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BE3DF-A59C-4C71-9036-D0FF1F06CE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8436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FFC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48.xml"/><Relationship Id="rId11" Type="http://schemas.openxmlformats.org/officeDocument/2006/relationships/image" Target="../media/image4.png"/><Relationship Id="rId5" Type="http://schemas.openxmlformats.org/officeDocument/2006/relationships/tags" Target="../tags/tag5.xml"/><Relationship Id="rId10" Type="http://schemas.openxmlformats.org/officeDocument/2006/relationships/image" Target="../media/image3.png"/><Relationship Id="rId4" Type="http://schemas.openxmlformats.org/officeDocument/2006/relationships/tags" Target="../tags/tag4.xml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tags" Target="../tags/tag18.xml"/><Relationship Id="rId18" Type="http://schemas.openxmlformats.org/officeDocument/2006/relationships/image" Target="../media/image7.png"/><Relationship Id="rId26" Type="http://schemas.openxmlformats.org/officeDocument/2006/relationships/image" Target="../media/image15.png"/><Relationship Id="rId3" Type="http://schemas.openxmlformats.org/officeDocument/2006/relationships/tags" Target="../tags/tag8.xml"/><Relationship Id="rId21" Type="http://schemas.openxmlformats.org/officeDocument/2006/relationships/image" Target="../media/image10.png"/><Relationship Id="rId7" Type="http://schemas.openxmlformats.org/officeDocument/2006/relationships/tags" Target="../tags/tag12.xml"/><Relationship Id="rId12" Type="http://schemas.openxmlformats.org/officeDocument/2006/relationships/tags" Target="../tags/tag17.xml"/><Relationship Id="rId17" Type="http://schemas.openxmlformats.org/officeDocument/2006/relationships/image" Target="../media/image4.png"/><Relationship Id="rId25" Type="http://schemas.openxmlformats.org/officeDocument/2006/relationships/image" Target="../media/image14.png"/><Relationship Id="rId2" Type="http://schemas.openxmlformats.org/officeDocument/2006/relationships/tags" Target="../tags/tag7.xml"/><Relationship Id="rId16" Type="http://schemas.openxmlformats.org/officeDocument/2006/relationships/image" Target="../media/image2.png"/><Relationship Id="rId20" Type="http://schemas.openxmlformats.org/officeDocument/2006/relationships/image" Target="../media/image9.png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24" Type="http://schemas.openxmlformats.org/officeDocument/2006/relationships/image" Target="../media/image13.png"/><Relationship Id="rId5" Type="http://schemas.openxmlformats.org/officeDocument/2006/relationships/tags" Target="../tags/tag10.xml"/><Relationship Id="rId15" Type="http://schemas.openxmlformats.org/officeDocument/2006/relationships/slideLayout" Target="../slideLayouts/slideLayout59.xml"/><Relationship Id="rId23" Type="http://schemas.openxmlformats.org/officeDocument/2006/relationships/image" Target="../media/image12.png"/><Relationship Id="rId10" Type="http://schemas.openxmlformats.org/officeDocument/2006/relationships/tags" Target="../tags/tag15.xml"/><Relationship Id="rId19" Type="http://schemas.openxmlformats.org/officeDocument/2006/relationships/image" Target="../media/image8.png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Relationship Id="rId22" Type="http://schemas.openxmlformats.org/officeDocument/2006/relationships/image" Target="../media/image11.png"/><Relationship Id="rId27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tags" Target="../tags/tag22.xml"/><Relationship Id="rId21" Type="http://schemas.openxmlformats.org/officeDocument/2006/relationships/image" Target="../media/image24.png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tags" Target="../tags/tag21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24" Type="http://schemas.openxmlformats.org/officeDocument/2006/relationships/image" Target="../media/image27.png"/><Relationship Id="rId5" Type="http://schemas.openxmlformats.org/officeDocument/2006/relationships/tags" Target="../tags/tag24.xml"/><Relationship Id="rId15" Type="http://schemas.openxmlformats.org/officeDocument/2006/relationships/slideLayout" Target="../slideLayouts/slideLayout70.xml"/><Relationship Id="rId23" Type="http://schemas.openxmlformats.org/officeDocument/2006/relationships/image" Target="../media/image26.png"/><Relationship Id="rId10" Type="http://schemas.openxmlformats.org/officeDocument/2006/relationships/tags" Target="../tags/tag29.xml"/><Relationship Id="rId19" Type="http://schemas.openxmlformats.org/officeDocument/2006/relationships/image" Target="../media/image22.png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Relationship Id="rId22" Type="http://schemas.openxmlformats.org/officeDocument/2006/relationships/image" Target="../media/image25.png"/><Relationship Id="rId27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tags" Target="../tags/tag36.xml"/><Relationship Id="rId7" Type="http://schemas.openxmlformats.org/officeDocument/2006/relationships/slideLayout" Target="../slideLayouts/slideLayout81.xml"/><Relationship Id="rId12" Type="http://schemas.openxmlformats.org/officeDocument/2006/relationships/image" Target="../media/image37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image" Target="../media/image36.png"/><Relationship Id="rId5" Type="http://schemas.openxmlformats.org/officeDocument/2006/relationships/tags" Target="../tags/tag38.xml"/><Relationship Id="rId10" Type="http://schemas.openxmlformats.org/officeDocument/2006/relationships/image" Target="../media/image35.png"/><Relationship Id="rId4" Type="http://schemas.openxmlformats.org/officeDocument/2006/relationships/tags" Target="../tags/tag37.xml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Bayes Rule Revisited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70000"/>
              </a:lnSpc>
            </a:pPr>
            <a:r>
              <a:rPr lang="en-US" sz="9600" dirty="0" smtClean="0"/>
              <a:t>We are provided with a probability model for  </a:t>
            </a:r>
          </a:p>
          <a:p>
            <a:pPr>
              <a:lnSpc>
                <a:spcPct val="170000"/>
              </a:lnSpc>
            </a:pPr>
            <a:r>
              <a:rPr lang="en-US" sz="9600" dirty="0" smtClean="0"/>
              <a:t>Also provided </a:t>
            </a:r>
            <a:r>
              <a:rPr lang="en-US" sz="9600" dirty="0"/>
              <a:t>with a probability model for </a:t>
            </a:r>
            <a:endParaRPr lang="en-US" sz="9600" dirty="0" smtClean="0"/>
          </a:p>
          <a:p>
            <a:pPr>
              <a:lnSpc>
                <a:spcPct val="170000"/>
              </a:lnSpc>
            </a:pPr>
            <a:r>
              <a:rPr lang="en-US" sz="9600" dirty="0" smtClean="0"/>
              <a:t>Want probability </a:t>
            </a:r>
            <a:r>
              <a:rPr lang="en-US" sz="9600" dirty="0"/>
              <a:t>model for </a:t>
            </a:r>
            <a:endParaRPr lang="en-US" sz="9600" dirty="0" smtClean="0"/>
          </a:p>
          <a:p>
            <a:pPr>
              <a:lnSpc>
                <a:spcPct val="170000"/>
              </a:lnSpc>
            </a:pPr>
            <a:r>
              <a:rPr lang="en-US" sz="9600" dirty="0" smtClean="0"/>
              <a:t>     is </a:t>
            </a:r>
            <a:r>
              <a:rPr lang="en-US" sz="9600" dirty="0"/>
              <a:t>“</a:t>
            </a:r>
            <a:r>
              <a:rPr lang="en-US" sz="9600" dirty="0" smtClean="0"/>
              <a:t>ground </a:t>
            </a:r>
            <a:r>
              <a:rPr lang="en-US" sz="9600" dirty="0"/>
              <a:t>truth”, </a:t>
            </a:r>
            <a:r>
              <a:rPr lang="en-US" sz="9600" dirty="0" smtClean="0">
                <a:solidFill>
                  <a:srgbClr val="FF0000"/>
                </a:solidFill>
              </a:rPr>
              <a:t>  </a:t>
            </a:r>
            <a:r>
              <a:rPr lang="en-US" sz="9600" dirty="0" smtClean="0"/>
              <a:t>  is </a:t>
            </a:r>
            <a:r>
              <a:rPr lang="en-US" sz="9600" dirty="0"/>
              <a:t>“Observation</a:t>
            </a:r>
            <a:r>
              <a:rPr lang="en-US" sz="9600" dirty="0" smtClean="0"/>
              <a:t>”</a:t>
            </a:r>
          </a:p>
          <a:p>
            <a:pPr>
              <a:lnSpc>
                <a:spcPct val="170000"/>
              </a:lnSpc>
            </a:pPr>
            <a:r>
              <a:rPr lang="en-US" sz="9600" dirty="0" smtClean="0"/>
              <a:t>Inference:</a:t>
            </a:r>
          </a:p>
          <a:p>
            <a:pPr lvl="1">
              <a:lnSpc>
                <a:spcPct val="170000"/>
              </a:lnSpc>
            </a:pPr>
            <a:r>
              <a:rPr lang="en-US" sz="9600" dirty="0" smtClean="0">
                <a:latin typeface="Arial" panose="020B0604020202020204" pitchFamily="34" charset="0"/>
                <a:cs typeface="Arial" panose="020B0604020202020204" pitchFamily="34" charset="0"/>
              </a:rPr>
              <a:t>Detection </a:t>
            </a:r>
          </a:p>
          <a:p>
            <a:pPr lvl="1">
              <a:lnSpc>
                <a:spcPct val="170000"/>
              </a:lnSpc>
            </a:pPr>
            <a:r>
              <a:rPr lang="en-US" sz="9600" dirty="0" smtClean="0">
                <a:latin typeface="Arial" panose="020B0604020202020204" pitchFamily="34" charset="0"/>
                <a:cs typeface="Arial" panose="020B0604020202020204" pitchFamily="34" charset="0"/>
              </a:rPr>
              <a:t>Estimation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1" y="2065166"/>
            <a:ext cx="560984" cy="30358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12" y="2771094"/>
            <a:ext cx="189281" cy="20665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2" y="3414827"/>
            <a:ext cx="565099" cy="30358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29" y="4092580"/>
            <a:ext cx="189281" cy="20665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3801" y="4103070"/>
            <a:ext cx="167336" cy="20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526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Recall Bayes Rule Discrete</a:t>
            </a:r>
            <a:endParaRPr lang="en-US" sz="36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2362226"/>
            <a:ext cx="561022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2" y="4171950"/>
            <a:ext cx="5133975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9600" y="1676400"/>
            <a:ext cx="28085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We have already seen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99405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Bayes Rule Discrete </a:t>
            </a:r>
            <a:r>
              <a:rPr lang="en-US" dirty="0" err="1" smtClean="0"/>
              <a:t>Cont</a:t>
            </a:r>
            <a:r>
              <a:rPr lang="en-US" dirty="0" smtClean="0"/>
              <a:t>’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200" y="1949226"/>
            <a:ext cx="9067800" cy="4603974"/>
          </a:xfrm>
        </p:spPr>
        <p:txBody>
          <a:bodyPr>
            <a:normAutofit fontScale="92500"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r>
              <a:rPr lang="en-US" sz="2200" dirty="0" smtClean="0"/>
              <a:t>Probability that these really is a target          when our detector says so  </a:t>
            </a:r>
            <a:endParaRPr lang="en-US" sz="2200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1146423" y="2238233"/>
            <a:ext cx="1832213" cy="136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1146423" y="3439236"/>
            <a:ext cx="1832213" cy="136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146423" y="2251904"/>
            <a:ext cx="1832213" cy="11873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1146423" y="2251904"/>
            <a:ext cx="1832213" cy="11873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142" y="1860784"/>
            <a:ext cx="189281" cy="20665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626" y="1845899"/>
            <a:ext cx="167336" cy="20665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390" y="2147662"/>
            <a:ext cx="97384" cy="20848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292" y="2147662"/>
            <a:ext cx="97384" cy="208483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721" y="2041705"/>
            <a:ext cx="393192" cy="17526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041" y="3351385"/>
            <a:ext cx="76810" cy="20299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942" y="3351385"/>
            <a:ext cx="76810" cy="20299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768" y="2516374"/>
            <a:ext cx="94640" cy="219456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339" y="2553064"/>
            <a:ext cx="93269" cy="14447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721" y="3500191"/>
            <a:ext cx="396621" cy="1828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831" y="2024508"/>
            <a:ext cx="1481328" cy="1702613"/>
          </a:xfrm>
          <a:prstGeom prst="rect">
            <a:avLst/>
          </a:prstGeom>
        </p:spPr>
      </p:pic>
      <p:sp>
        <p:nvSpPr>
          <p:cNvPr id="44" name="Right Brace 43"/>
          <p:cNvSpPr/>
          <p:nvPr/>
        </p:nvSpPr>
        <p:spPr>
          <a:xfrm>
            <a:off x="5622122" y="2949011"/>
            <a:ext cx="184245" cy="70882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22" name="Picture 2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963" y="4079722"/>
            <a:ext cx="5087265" cy="1609343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350" y="5949907"/>
            <a:ext cx="630936" cy="252984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65" y="5963505"/>
            <a:ext cx="610362" cy="25298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893276" y="2861245"/>
            <a:ext cx="15743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Detector accuracy</a:t>
            </a: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79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Bayes Rule Continuous</a:t>
            </a:r>
            <a:endParaRPr lang="en-US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1849870"/>
            <a:ext cx="551497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99" y="4419626"/>
            <a:ext cx="5514975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525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002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Bayes Rule Continuous </a:t>
            </a:r>
            <a:r>
              <a:rPr lang="en-US" dirty="0" err="1" smtClean="0"/>
              <a:t>Cont</a:t>
            </a:r>
            <a:r>
              <a:rPr lang="en-US" dirty="0" smtClean="0"/>
              <a:t>’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628650" y="1825631"/>
            <a:ext cx="7886700" cy="48799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stick breaking problem recall</a:t>
            </a:r>
          </a:p>
          <a:p>
            <a:endParaRPr lang="en-US" dirty="0"/>
          </a:p>
          <a:p>
            <a:r>
              <a:rPr lang="en-US" dirty="0"/>
              <a:t>Generate      from knowing</a:t>
            </a:r>
          </a:p>
          <a:p>
            <a:r>
              <a:rPr lang="en-US" dirty="0"/>
              <a:t> Generate      from knowing</a:t>
            </a:r>
          </a:p>
          <a:p>
            <a:r>
              <a:rPr lang="en-US" dirty="0"/>
              <a:t>          and      are available, what is          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Can </a:t>
            </a:r>
            <a:r>
              <a:rPr lang="en-US" dirty="0"/>
              <a:t>integrate          above </a:t>
            </a:r>
            <a:r>
              <a:rPr lang="en-US" dirty="0" err="1"/>
              <a:t>wrt</a:t>
            </a:r>
            <a:r>
              <a:rPr lang="en-US" dirty="0"/>
              <a:t>     for a given     to find probabilities.    </a:t>
            </a:r>
          </a:p>
          <a:p>
            <a:endParaRPr lang="en-US" dirty="0"/>
          </a:p>
        </p:txBody>
      </p:sp>
      <p:pic>
        <p:nvPicPr>
          <p:cNvPr id="19" name="Picture 1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250228"/>
            <a:ext cx="1536192" cy="21397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6379" y="2657300"/>
            <a:ext cx="252374" cy="20665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013" y="2667420"/>
            <a:ext cx="65837" cy="213969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2" y="3035701"/>
            <a:ext cx="223113" cy="206654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659" y="3035701"/>
            <a:ext cx="252374" cy="206654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01" y="3448012"/>
            <a:ext cx="599846" cy="32004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883" y="3460593"/>
            <a:ext cx="332841" cy="249753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928" y="3412868"/>
            <a:ext cx="603504" cy="32004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687" y="3962400"/>
            <a:ext cx="4197096" cy="1545338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183" y="4981376"/>
            <a:ext cx="1766621" cy="272491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256" y="5784986"/>
            <a:ext cx="603504" cy="32004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6276" y="5126492"/>
            <a:ext cx="45719" cy="114298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450" y="5876426"/>
            <a:ext cx="153619" cy="13716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492" y="5847165"/>
            <a:ext cx="142646" cy="19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55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Discrete </a:t>
            </a:r>
            <a:r>
              <a:rPr lang="en-US" sz="3600" i="1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X 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Continuous </a:t>
            </a:r>
            <a:r>
              <a:rPr lang="en-US" sz="3600" i="1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Y</a:t>
            </a:r>
            <a:endParaRPr lang="en-US" sz="3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05001"/>
            <a:ext cx="4305300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117975"/>
            <a:ext cx="5505450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373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300" dirty="0"/>
              <a:t>Bayes Rule </a:t>
            </a:r>
            <a:r>
              <a:rPr lang="en-US" sz="4300" dirty="0" smtClean="0"/>
              <a:t> Discrete     Continuous    </a:t>
            </a:r>
            <a:r>
              <a:rPr lang="en-US" sz="4300" dirty="0" err="1" smtClean="0"/>
              <a:t>Cont</a:t>
            </a:r>
            <a:r>
              <a:rPr lang="en-US" sz="4300" dirty="0"/>
              <a:t>’ 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23" y="2286000"/>
            <a:ext cx="4319169" cy="3035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75" y="3144166"/>
            <a:ext cx="3068270" cy="26487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475" y="4147913"/>
            <a:ext cx="2772004" cy="5002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23" y="5340195"/>
            <a:ext cx="3806190" cy="83200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392" y="471996"/>
            <a:ext cx="378562" cy="41330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481" y="1078642"/>
            <a:ext cx="334670" cy="41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725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>
                <a:solidFill>
                  <a:srgbClr val="FFB310"/>
                </a:solidFill>
                <a:ea typeface="MS PGothic" pitchFamily="34" charset="-128"/>
                <a:sym typeface="Akzidenz-Grotesk Pro Bold" charset="0"/>
              </a:rPr>
              <a:t>Discrete </a:t>
            </a:r>
            <a:r>
              <a:rPr lang="en-US" sz="3600" i="1" kern="0" dirty="0" smtClean="0">
                <a:solidFill>
                  <a:srgbClr val="FFB310"/>
                </a:solidFill>
                <a:ea typeface="MS PGothic" pitchFamily="34" charset="-128"/>
                <a:sym typeface="Akzidenz-Grotesk Pro Bold" charset="0"/>
              </a:rPr>
              <a:t>Y </a:t>
            </a:r>
            <a:r>
              <a:rPr lang="en-US" sz="3600" kern="0" dirty="0">
                <a:solidFill>
                  <a:srgbClr val="FFB310"/>
                </a:solidFill>
                <a:ea typeface="MS PGothic" pitchFamily="34" charset="-128"/>
                <a:sym typeface="Akzidenz-Grotesk Pro Bold" charset="0"/>
              </a:rPr>
              <a:t>Continuous </a:t>
            </a:r>
            <a:r>
              <a:rPr lang="en-US" sz="3600" i="1" kern="0" dirty="0" smtClean="0">
                <a:solidFill>
                  <a:srgbClr val="FFB310"/>
                </a:solidFill>
                <a:ea typeface="MS PGothic" pitchFamily="34" charset="-128"/>
                <a:sym typeface="Akzidenz-Grotesk Pro Bold" charset="0"/>
              </a:rPr>
              <a:t>X</a:t>
            </a:r>
            <a:endParaRPr lang="en-US" sz="3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048164"/>
            <a:ext cx="44577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08" y="4038600"/>
            <a:ext cx="582930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83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288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306.75"/>
  <p:tag name="LATEXADDIN" val="\documentclass{article}&#10;\usepackage{amsmath}&#10;\pagestyle{empty}&#10;\begin{document}&#10;&#10;$Y \mid X$&#10;\end{document}"/>
  <p:tag name="IGUANATEXSIZE" val="24"/>
  <p:tag name="IGUANATEXCURSOR" val="82"/>
  <p:tag name="TRANSPARENCY" val="True"/>
  <p:tag name="FILENAME" val=""/>
  <p:tag name="INPUTTYPE" val="0"/>
  <p:tag name="LATEXENGINEID" val="0"/>
  <p:tag name="TEMPFOLDER" val="C:\Users\Abhilash S\Documents\temp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.75"/>
  <p:tag name="ORIGINALWIDTH" val="103.5"/>
  <p:tag name="LATEXADDIN" val="\documentclass{article}&#10;\usepackage{amsmath}&#10;\pagestyle{empty}&#10;\begin{document}&#10;&#10;$X$&#10;\end{document}"/>
  <p:tag name="IGUANATEXSIZE" val="24"/>
  <p:tag name="IGUANATEXCURSOR" val="82"/>
  <p:tag name="TRANSPARENCY" val="True"/>
  <p:tag name="FILENAME" val=""/>
  <p:tag name="INPUTTYPE" val="0"/>
  <p:tag name="LATEXENGINEID" val="0"/>
  <p:tag name="TEMPFOLDER" val="C:\Users\Abhilash S\Documents\temp\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309"/>
  <p:tag name="LATEXADDIN" val="\documentclass{article}&#10;\usepackage{amsmath}&#10;\pagestyle{empty}&#10;\begin{document}&#10;&#10;$X \mid Y$&#10;\end{document}"/>
  <p:tag name="IGUANATEXSIZE" val="24"/>
  <p:tag name="IGUANATEXCURSOR" val="90"/>
  <p:tag name="TRANSPARENCY" val="True"/>
  <p:tag name="FILENAME" val=""/>
  <p:tag name="INPUTTYPE" val="0"/>
  <p:tag name="LATEXENGINEID" val="0"/>
  <p:tag name="TEMPFOLDER" val="C:\Users\Abhilash S\Documents\temp\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.75"/>
  <p:tag name="ORIGINALWIDTH" val="103.5"/>
  <p:tag name="LATEXADDIN" val="\documentclass{article}&#10;\usepackage{amsmath}&#10;\pagestyle{empty}&#10;\begin{document}&#10;&#10;$X$&#10;\end{document}"/>
  <p:tag name="IGUANATEXSIZE" val="24"/>
  <p:tag name="IGUANATEXCURSOR" val="82"/>
  <p:tag name="TRANSPARENCY" val="True"/>
  <p:tag name="FILENAME" val=""/>
  <p:tag name="INPUTTYPE" val="0"/>
  <p:tag name="LATEXENGINEID" val="0"/>
  <p:tag name="TEMPFOLDER" val="C:\Users\Abhilash S\Documents\temp\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.75"/>
  <p:tag name="ORIGINALWIDTH" val="91.5"/>
  <p:tag name="LATEXADDIN" val="\documentclass{article}&#10;\usepackage{amsmath}&#10;\pagestyle{empty}&#10;\begin{document}&#10;&#10;$Y$&#10;\end{document}"/>
  <p:tag name="IGUANATEXSIZE" val="24"/>
  <p:tag name="IGUANATEXCURSOR" val="83"/>
  <p:tag name="TRANSPARENCY" val="True"/>
  <p:tag name="FILENAME" val=""/>
  <p:tag name="INPUTTYPE" val="0"/>
  <p:tag name="LATEXENGINEID" val="0"/>
  <p:tag name="TEMPFOLDER" val="C:\Users\Abhilash S\Documents\temp\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.75"/>
  <p:tag name="ORIGINALWIDTH" val="103.5"/>
  <p:tag name="LATEXADDIN" val="\documentclass{article}&#10;\usepackage{amsmath}&#10;\pagestyle{empty}&#10;\begin{document}&#10;&#10;$X$&#10;\end{document}"/>
  <p:tag name="IGUANATEXSIZE" val="24"/>
  <p:tag name="IGUANATEXCURSOR" val="83"/>
  <p:tag name="TRANSPARENCY" val="True"/>
  <p:tag name="FILENAME" val=""/>
  <p:tag name="INPUTTYPE" val="0"/>
  <p:tag name="LATEXENGINEID" val="0"/>
  <p:tag name="TEMPFOLDER" val="C:\Users\Abhilash S\Documents\temp\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.75"/>
  <p:tag name="ORIGINALWIDTH" val="91.5"/>
  <p:tag name="LATEXADDIN" val="\documentclass{article}&#10;\usepackage{amsmath}&#10;\pagestyle{empty}&#10;\begin{document}&#10;&#10;$Y$&#10;\end{document}"/>
  <p:tag name="IGUANATEXSIZE" val="24"/>
  <p:tag name="IGUANATEXCURSOR" val="83"/>
  <p:tag name="TRANSPARENCY" val="True"/>
  <p:tag name="FILENAME" val=""/>
  <p:tag name="INPUTTYPE" val="0"/>
  <p:tag name="LATEXENGINEID" val="0"/>
  <p:tag name="TEMPFOLDER" val="C:\Users\Abhilash S\Documents\temp\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5.5"/>
  <p:tag name="ORIGINALWIDTH" val="53.25"/>
  <p:tag name="LATEXADDIN" val="\documentclass{article}&#10;\usepackage{amsmath}&#10;\pagestyle{empty}&#10;\begin{document}&#10;&#10;$0$&#10;\end{document}"/>
  <p:tag name="IGUANATEXSIZE" val="24"/>
  <p:tag name="IGUANATEXCURSOR" val="83"/>
  <p:tag name="TRANSPARENCY" val="True"/>
  <p:tag name="FILENAME" val=""/>
  <p:tag name="INPUTTYPE" val="0"/>
  <p:tag name="LATEXENGINEID" val="0"/>
  <p:tag name="TEMPFOLDER" val="C:\Users\Abhilash S\Documents\temp\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5.5"/>
  <p:tag name="ORIGINALWIDTH" val="53.25"/>
  <p:tag name="LATEXADDIN" val="\documentclass{article}&#10;\usepackage{amsmath}&#10;\pagestyle{empty}&#10;\begin{document}&#10;&#10;$0$&#10;\end{document}"/>
  <p:tag name="IGUANATEXSIZE" val="24"/>
  <p:tag name="IGUANATEXCURSOR" val="83"/>
  <p:tag name="TRANSPARENCY" val="True"/>
  <p:tag name="FILENAME" val=""/>
  <p:tag name="INPUTTYPE" val="0"/>
  <p:tag name="LATEXENGINEID" val="0"/>
  <p:tag name="TEMPFOLDER" val="C:\Users\Abhilash S\Documents\temp\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6.25"/>
  <p:tag name="ORIGINALWIDTH" val="258"/>
  <p:tag name="LATEXADDIN" val="\documentclass{article}&#10;\usepackage{amsmath}&#10;\pagestyle{empty}&#10;\begin{document}&#10;&#10;$1-\varepsilon$&#10;\end{document}"/>
  <p:tag name="IGUANATEXSIZE" val="20"/>
  <p:tag name="IGUANATEXCURSOR" val="9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3.25"/>
  <p:tag name="ORIGINALWIDTH" val="42"/>
  <p:tag name="LATEXADDIN" val="\documentclass{article}&#10;\usepackage{amsmath}&#10;\pagestyle{empty}&#10;\begin{document}&#10;&#10;$1$&#10;\end{document}"/>
  <p:tag name="IGUANATEXSIZE" val="24"/>
  <p:tag name="IGUANATEXCURSOR" val="83"/>
  <p:tag name="TRANSPARENCY" val="True"/>
  <p:tag name="FILENAME" val=""/>
  <p:tag name="INPUTTYPE" val="0"/>
  <p:tag name="LATEXENGINEID" val="0"/>
  <p:tag name="TEMPFOLDER" val="C:\Users\Abhilash S\Documents\temp\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3.25"/>
  <p:tag name="ORIGINALWIDTH" val="42"/>
  <p:tag name="LATEXADDIN" val="\documentclass{article}&#10;\usepackage{amsmath}&#10;\pagestyle{empty}&#10;\begin{document}&#10;&#10;$1$&#10;\end{document}"/>
  <p:tag name="IGUANATEXSIZE" val="24"/>
  <p:tag name="IGUANATEXCURSOR" val="83"/>
  <p:tag name="TRANSPARENCY" val="True"/>
  <p:tag name="FILENAME" val=""/>
  <p:tag name="INPUTTYPE" val="0"/>
  <p:tag name="LATEXENGINEID" val="0"/>
  <p:tag name="TEMPFOLDER" val="C:\Users\Abhilash S\Documents\temp\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0"/>
  <p:tag name="ORIGINALWIDTH" val="51.75"/>
  <p:tag name="LATEXADDIN" val="\documentclass{article}&#10;\usepackage{amsmath}&#10;\pagestyle{empty}&#10;\begin{document}&#10;&#10;$\delta$&#10;\end{document}"/>
  <p:tag name="IGUANATEXSIZE" val="24"/>
  <p:tag name="IGUANATEXCURSOR" val="88"/>
  <p:tag name="TRANSPARENCY" val="True"/>
  <p:tag name="FILENAME" val=""/>
  <p:tag name="INPUTTYPE" val="0"/>
  <p:tag name="LATEXENGINEID" val="0"/>
  <p:tag name="TEMPFOLDER" val="C:\Users\Abhilash S\Documents\temp\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9.25"/>
  <p:tag name="ORIGINALWIDTH" val="51"/>
  <p:tag name="LATEXADDIN" val="\documentclass{article}&#10;\usepackage{amsmath}&#10;\pagestyle{empty}&#10;\begin{document}&#10;&#10;$\varepsilon$&#10;\end{document}"/>
  <p:tag name="IGUANATEXSIZE" val="24"/>
  <p:tag name="IGUANATEXCURSOR" val="93"/>
  <p:tag name="TRANSPARENCY" val="True"/>
  <p:tag name="FILENAME" val=""/>
  <p:tag name="INPUTTYPE" val="0"/>
  <p:tag name="LATEXENGINEID" val="0"/>
  <p:tag name="TEMPFOLDER" val="C:\Users\Abhilash S\Documents\temp\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0"/>
  <p:tag name="ORIGINALWIDTH" val="260.25"/>
  <p:tag name="LATEXADDIN" val="\documentclass{article}&#10;\usepackage{amsmath}&#10;\pagestyle{empty}&#10;\begin{document}&#10;&#10;$1-\delta$&#10;\end{document}"/>
  <p:tag name="IGUANATEXSIZE" val="20"/>
  <p:tag name="IGUANATEXCURSOR" val="9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98.25"/>
  <p:tag name="ORIGINALWIDTH" val="810"/>
  <p:tag name="LATEXADDIN" val="\documentclass{article}&#10;\usepackage{amsmath}&#10;\pagestyle{empty}&#10;\begin{document}&#10;&#10;&#10;$\begin{aligned}&#10;               &amp;p_X(0)=p\\&#10;               &amp;p_X(1)=1-p \\&#10;               &amp;\varepsilon=p_{Y \mid X}(1 \mid 0)\\&#10;               &amp;\delta=p_{Y \mid X}(0 \mid 1)    &#10;  \end{aligned}$&#10;&#10;\end{document}"/>
  <p:tag name="IGUANATEXSIZE" val="24"/>
  <p:tag name="IGUANATEXCURSOR" val="23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60"/>
  <p:tag name="ORIGINALWIDTH" val="2781.75"/>
  <p:tag name="LATEXADDIN" val="\documentclass{article}&#10;\usepackage{amsmath}&#10;\pagestyle{empty}&#10;\begin{document}&#10;&#10;$\begin{aligned}&#10;               p_{X \mid Y}(1 \mid 1)&amp;=\frac{p_X(1) \hspace{0.5mm} p_{Y \mid X}(1 \mid 1)} {p_X(0) \hspace{0.5mm}p_{Y \mid X}(1 \mid 0)+p_X(1)  \hspace{0.5mm} p_{Y \mid X}(1 \mid 1) }\\ &#10;                                     &amp;= \frac{(1-p)(1-\delta)}{\varepsilon p +(1-p)(1-\delta)}&#10;  \end{aligned}$&#10;&#10;\end{document}"/>
  <p:tag name="IGUANATEXSIZE" val="24"/>
  <p:tag name="IGUANATEXCURSOR" val="37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414"/>
  <p:tag name="LATEXADDIN" val="\documentclass{article}&#10;\usepackage{amsmath}&#10;\pagestyle{empty}&#10;\begin{document}&#10;&#10;$(X=1)$&#10;\end{document}"/>
  <p:tag name="IGUANATEXSIZE" val="20"/>
  <p:tag name="IGUANATEXCURSOR" val="87"/>
  <p:tag name="TRANSPARENCY" val="True"/>
  <p:tag name="FILENAME" val=""/>
  <p:tag name="INPUTTYPE" val="0"/>
  <p:tag name="LATEXENGINEID" val="0"/>
  <p:tag name="TEMPFOLDER" val="C:\Users\Abhilash S\Documents\temp\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400.5"/>
  <p:tag name="LATEXADDIN" val="\documentclass{article}&#10;\usepackage{amsmath}&#10;\pagestyle{empty}&#10;\begin{document}&#10;&#10;$(Y=1)$&#10;\end{document}"/>
  <p:tag name="IGUANATEXSIZE" val="20"/>
  <p:tag name="IGUANATEXCURSOR" val="84"/>
  <p:tag name="TRANSPARENCY" val="True"/>
  <p:tag name="FILENAME" val=""/>
  <p:tag name="INPUTTYPE" val="0"/>
  <p:tag name="LATEXENGINEID" val="0"/>
  <p:tag name="TEMPFOLDER" val="C:\Users\Abhilash S\Documents\temp\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7.75"/>
  <p:tag name="ORIGINALWIDTH" val="630"/>
  <p:tag name="LATEXADDIN" val="\documentclass{article}&#10;\usepackage{amsmath}&#10;\pagestyle{empty}&#10;\begin{document}&#10;&#10;$l \to X \to Y$&#10;\end{document}"/>
  <p:tag name="IGUANATEXSIZE" val="24"/>
  <p:tag name="IGUANATEXCURSOR" val="95"/>
  <p:tag name="TRANSPARENCY" val="True"/>
  <p:tag name="FILENAME" val=""/>
  <p:tag name="INPUTTYPE" val="0"/>
  <p:tag name="LATEXENGINEID" val="0"/>
  <p:tag name="TEMPFOLDER" val="C:\Users\Abhilash S\Documents\temp\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.75"/>
  <p:tag name="ORIGINALWIDTH" val="103.5"/>
  <p:tag name="LATEXADDIN" val="\documentclass{article}&#10;\usepackage{amsmath}&#10;\pagestyle{empty}&#10;\begin{document}&#10;&#10;$X$&#10;\end{document}"/>
  <p:tag name="IGUANATEXSIZE" val="24"/>
  <p:tag name="IGUANATEXCURSOR" val="83"/>
  <p:tag name="TRANSPARENCY" val="True"/>
  <p:tag name="FILENAME" val=""/>
  <p:tag name="INPUTTYPE" val="0"/>
  <p:tag name="LATEXENGINEID" val="0"/>
  <p:tag name="TEMPFOLDER" val="C:\Users\Abhilash S\Documents\temp\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7.75"/>
  <p:tag name="ORIGINALWIDTH" val="27"/>
  <p:tag name="LATEXADDIN" val="\documentclass{article}&#10;\usepackage{amsmath}&#10;\pagestyle{empty}&#10;\begin{document}&#10;&#10;$l$&#10;\end{document}"/>
  <p:tag name="IGUANATEXSIZE" val="24"/>
  <p:tag name="IGUANATEXCURSOR" val="83"/>
  <p:tag name="TRANSPARENCY" val="True"/>
  <p:tag name="FILENAME" val=""/>
  <p:tag name="INPUTTYPE" val="0"/>
  <p:tag name="LATEXENGINEID" val="0"/>
  <p:tag name="TEMPFOLDER" val="C:\Users\Abhilash S\Documents\temp\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.75"/>
  <p:tag name="ORIGINALWIDTH" val="91.5"/>
  <p:tag name="LATEXADDIN" val="\documentclass{article}&#10;\usepackage{amsmath}&#10;\pagestyle{empty}&#10;\begin{document}&#10;&#10;$Y$&#10;\end{document}"/>
  <p:tag name="IGUANATEXSIZE" val="24"/>
  <p:tag name="IGUANATEXCURSOR" val="83"/>
  <p:tag name="TRANSPARENCY" val="True"/>
  <p:tag name="FILENAME" val=""/>
  <p:tag name="INPUTTYPE" val="0"/>
  <p:tag name="LATEXENGINEID" val="0"/>
  <p:tag name="TEMPFOLDER" val="C:\Users\Abhilash S\Documents\temp\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.75"/>
  <p:tag name="ORIGINALWIDTH" val="103.5"/>
  <p:tag name="LATEXADDIN" val="\documentclass{article}&#10;\usepackage{amsmath}&#10;\pagestyle{empty}&#10;\begin{document}&#10;&#10;$X$&#10;\end{document}"/>
  <p:tag name="IGUANATEXSIZE" val="24"/>
  <p:tag name="IGUANATEXCURSOR" val="83"/>
  <p:tag name="TRANSPARENCY" val="True"/>
  <p:tag name="FILENAME" val=""/>
  <p:tag name="INPUTTYPE" val="0"/>
  <p:tag name="LATEXENGINEID" val="0"/>
  <p:tag name="TEMPFOLDER" val="C:\Users\Abhilash S\Documents\temp\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5"/>
  <p:tag name="ORIGINALWIDTH" val="246"/>
  <p:tag name="LATEXADDIN" val="\documentclass{article}&#10;\usepackage{amsmath}&#10;\pagestyle{empty}&#10;\begin{document}&#10;&#10;$f_{Y \mid X}$&#10;\end{document}"/>
  <p:tag name="IGUANATEXSIZE" val="24"/>
  <p:tag name="IGUANATEXCURSOR" val="94"/>
  <p:tag name="TRANSPARENCY" val="True"/>
  <p:tag name="FILENAME" val=""/>
  <p:tag name="INPUTTYPE" val="0"/>
  <p:tag name="LATEXENGINEID" val="0"/>
  <p:tag name="TEMPFOLDER" val="C:\Users\Abhilash S\Documents\temp\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2.5"/>
  <p:tag name="ORIGINALWIDTH" val="136.5"/>
  <p:tag name="LATEXADDIN" val="\documentclass{article}&#10;\usepackage{amsmath}&#10;\pagestyle{empty}&#10;\begin{document}&#10;&#10;$f_X$&#10;\end{document}"/>
  <p:tag name="IGUANATEXSIZE" val="24"/>
  <p:tag name="IGUANATEXCURSOR" val="85"/>
  <p:tag name="TRANSPARENCY" val="True"/>
  <p:tag name="FILENAME" val=""/>
  <p:tag name="INPUTTYPE" val="0"/>
  <p:tag name="LATEXENGINEID" val="0"/>
  <p:tag name="TEMPFOLDER" val="C:\Users\Abhilash S\Documents\temp\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5"/>
  <p:tag name="ORIGINALWIDTH" val="247.5"/>
  <p:tag name="LATEXADDIN" val="\documentclass{article}&#10;\usepackage{amsmath}&#10;\pagestyle{empty}&#10;\begin{document}&#10;&#10;$f_{X \mid Y}$&#10;\end{document}"/>
  <p:tag name="IGUANATEXSIZE" val="24"/>
  <p:tag name="IGUANATEXCURSOR" val="93"/>
  <p:tag name="TRANSPARENCY" val="True"/>
  <p:tag name="FILENAME" val=""/>
  <p:tag name="INPUTTYPE" val="0"/>
  <p:tag name="LATEXENGINEID" val="0"/>
  <p:tag name="TEMPFOLDER" val="C:\Users\Abhilash S\Documents\temp\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33.75"/>
  <p:tag name="ORIGINALWIDTH" val="1721.25"/>
  <p:tag name="LATEXADDIN" val="\documentclass{article}&#10;\usepackage{amsmath}&#10;\pagestyle{empty}&#10;\begin{document}&#10;&#10;&#10;$\begin{aligned}&#10;               f_{X \mid Y}(x \mid y)&amp;=\frac{f_X(x)\hspace{0.5mm} f_{Y \mid X}(y \mid x)}{f_Y(y)} \\&#10;                                     &amp;= \frac{1}{x \log(l/y)}    &#10;  \end{aligned}$&#10;&#10;&#10;&#10;\end{document}"/>
  <p:tag name="IGUANATEXSIZE" val="24"/>
  <p:tag name="IGUANATEXCURSOR" val="238"/>
  <p:tag name="TRANSPARENCY" val="True"/>
  <p:tag name="FILENAME" val=""/>
  <p:tag name="INPUTTYPE" val="0"/>
  <p:tag name="LATEXENGINEID" val="0"/>
  <p:tag name="TEMPFOLDER" val="C:\Users\Abhilash S\Documents\temp\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1.75"/>
  <p:tag name="ORIGINALWIDTH" val="724.5"/>
  <p:tag name="LATEXADDIN" val="\documentclass{article}&#10;\usepackage{amsmath}&#10;\pagestyle{empty}&#10;\begin{document}&#10;&#10;$0 \le y \le x \le l$&#10;\end{document}"/>
  <p:tag name="IGUANATEXSIZE" val="24"/>
  <p:tag name="IGUANATEXCURSOR" val="101"/>
  <p:tag name="TRANSPARENCY" val="True"/>
  <p:tag name="FILENAME" val=""/>
  <p:tag name="INPUTTYPE" val="0"/>
  <p:tag name="LATEXENGINEID" val="0"/>
  <p:tag name="TEMPFOLDER" val="C:\Users\Abhilash S\Documents\temp\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25"/>
  <p:tag name="ORIGINALWIDTH" val="247.5"/>
  <p:tag name="LATEXADDIN" val="\documentclass{article}&#10;\usepackage{amsmath}&#10;\pagestyle{empty}&#10;\begin{document}&#10;&#10;$f_{X \mid Y}$&#10;\end{document}"/>
  <p:tag name="IGUANATEXSIZE" val="24"/>
  <p:tag name="IGUANATEXCURSOR" val="93"/>
  <p:tag name="TRANSPARENCY" val="True"/>
  <p:tag name="FILENAME" val=""/>
  <p:tag name="INPUTTYPE" val="0"/>
  <p:tag name="LATEXENGINEID" val="0"/>
  <p:tag name="TEMPFOLDER" val="C:\Users\Abhilash S\Documents\temp\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7.5"/>
  <p:tag name="ORIGINALWIDTH" val="15"/>
  <p:tag name="LATEXADDIN" val="\documentclass{article}&#10;\usepackage{amsmath}&#10;\pagestyle{empty}&#10;\begin{document}&#10;$,$&#10;\end{document}"/>
  <p:tag name="IGUANATEXSIZE" val="24"/>
  <p:tag name="IGUANATEXCURSOR" val="83"/>
  <p:tag name="TRANSPARENCY" val="True"/>
  <p:tag name="FILENAME" val=""/>
  <p:tag name="INPUTTYPE" val="0"/>
  <p:tag name="LATEXENGINEID" val="0"/>
  <p:tag name="TEMPFOLDER" val="C:\Users\Abhilash S\Documents\temp\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6.25"/>
  <p:tag name="ORIGINALWIDTH" val="63"/>
  <p:tag name="LATEXADDIN" val="\documentclass{article}&#10;\usepackage{amsmath}&#10;\pagestyle{empty}&#10;\begin{document}&#10;&#10;&#10;$x$&#10;&#10;&#10;\end{document}"/>
  <p:tag name="IGUANATEXSIZE" val="24"/>
  <p:tag name="IGUANATEXCURSOR" val="85"/>
  <p:tag name="TRANSPARENCY" val="True"/>
  <p:tag name="FILENAME" val=""/>
  <p:tag name="INPUTTYPE" val="0"/>
  <p:tag name="LATEXENGINEID" val="0"/>
  <p:tag name="TEMPFOLDER" val="C:\Users\Abhilash S\Documents\temp\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0.25"/>
  <p:tag name="ORIGINALWIDTH" val="58.5"/>
  <p:tag name="LATEXADDIN" val="\documentclass{article}&#10;\usepackage{amsmath}&#10;\pagestyle{empty}&#10;\begin{document}&#10;&#10;&#10;$y$&#10;&#10;&#10;\end{document}"/>
  <p:tag name="IGUANATEXSIZE" val="24"/>
  <p:tag name="IGUANATEXCURSOR" val="84"/>
  <p:tag name="TRANSPARENCY" val="True"/>
  <p:tag name="FILENAME" val=""/>
  <p:tag name="INPUTTYPE" val="0"/>
  <p:tag name="LATEXENGINEID" val="0"/>
  <p:tag name="TEMPFOLDER" val="C:\Users\Abhilash S\Documents\temp\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2361.75"/>
  <p:tag name="LATEXADDIN" val="\documentclass{article}&#10;\usepackage{amsmath}&#10;\pagestyle{empty}&#10;\begin{document}&#10;&#10;$S_X=\{-1,1\}\hspace{2mm} , \hspace{5mm} p_X(-1)=p=1-p_X(1)$&#10;\end{document}"/>
  <p:tag name="IGUANATEXSIZE" val="24"/>
  <p:tag name="IGUANATEXCURSOR" val="12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4.25"/>
  <p:tag name="ORIGINALWIDTH" val="1677.75"/>
  <p:tag name="LATEXADDIN" val="\documentclass{article}&#10;\usepackage{amsmath}&#10;\pagestyle{empty}&#10;\begin{document}&#10;&#10;$Y=X+N \hspace{2mm}, \hspace{5mm} N\sim \mathcal{N}(0,\sigma^2)$&#10;\end{document}"/>
  <p:tag name="IGUANATEXSIZE" val="24"/>
  <p:tag name="IGUANATEXCURSOR" val="121"/>
  <p:tag name="TRANSPARENCY" val="True"/>
  <p:tag name="FILENAME" val=""/>
  <p:tag name="INPUTTYPE" val="0"/>
  <p:tag name="LATEXENGINEID" val="0"/>
  <p:tag name="TEMPFOLDER" val="C:\Users\Abhilash S\Documents\temp\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4.75"/>
  <p:tag name="ORIGINALWIDTH" val="1515.75"/>
  <p:tag name="LATEXADDIN" val="\documentclass{article}&#10;\usepackage{amsmath}&#10;\pagestyle{empty}&#10;\begin{document}&#10;&#10;$f_{Y \mid X}(y \mid x)=\frac{1}{\sqrt{2 \pi \sigma^2}}e^{\frac{-(y-x)^2}{2 \sigma^2}}$&#10;\end{document}"/>
  <p:tag name="IGUANATEXSIZE" val="24"/>
  <p:tag name="IGUANATEXCURSOR" val="136"/>
  <p:tag name="TRANSPARENCY" val="True"/>
  <p:tag name="FILENAME" val=""/>
  <p:tag name="INPUTTYPE" val="0"/>
  <p:tag name="LATEXENGINEID" val="0"/>
  <p:tag name="TEMPFOLDER" val="C:\Users\Abhilash S\Documents\temp\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68.25"/>
  <p:tag name="ORIGINALWIDTH" val="2081.25"/>
  <p:tag name="LATEXADDIN" val="\documentclass{article}&#10;\usepackage{amsmath}&#10;\pagestyle{empty}&#10;\begin{document}&#10;&#10;$p_{X \mid Y}(1 \mid y)=\frac{(1-p)\hspace{1mm}e^{\frac{-(y-1)^2}{2 \sigma^2}}}{p \hspace{1mm} e^{\frac{-(y+1)^2}{2 \sigma^2}}+(1-p)\hspace{1mm} e^{\frac{-(y-1)^2}{2 \sigma^2}}}$&#10;\end{document}"/>
  <p:tag name="IGUANATEXSIZE" val="24"/>
  <p:tag name="IGUANATEXCURSOR" val="8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.75"/>
  <p:tag name="ORIGINALWIDTH" val="103.5"/>
  <p:tag name="LATEXADDIN" val="\documentclass{article}&#10;\usepackage{amsmath}&#10;\usepackage{color}&#10;\pagestyle{empty}&#10;\definecolor{pastelorange}{rgb}{1.0, 0.702, 0.063}&#10;\begin{document}&#10;&#10;$\textcolor{pastelorange}{X}$&#10;\end{document}"/>
  <p:tag name="IGUANATEXSIZE" val="48"/>
  <p:tag name="IGUANATEXCURSOR" val="131"/>
  <p:tag name="TRANSPARENCY" val="True"/>
  <p:tag name="FILENAME" val=""/>
  <p:tag name="INPUTTYPE" val="0"/>
  <p:tag name="LATEXENGINEID" val="0"/>
  <p:tag name="TEMPFOLDER" val="C:\Users\Abhilash S\Documents\temp\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.75"/>
  <p:tag name="ORIGINALWIDTH" val="91.5"/>
  <p:tag name="LATEXADDIN" val="\documentclass{article}&#10;\usepackage{amsmath}&#10;\usepackage{color}&#10;\pagestyle{empty}&#10;\definecolor{pastelorange}{rgb}{1.0, 0.702, 0.063}&#10;\begin{document}&#10;&#10;$\textcolor{pastelorange}{Y}$&#10;\end{document}"/>
  <p:tag name="IGUANATEXSIZE" val="48"/>
  <p:tag name="IGUANATEXCURSOR" val="131"/>
  <p:tag name="TRANSPARENCY" val="True"/>
  <p:tag name="FILENAME" val=""/>
  <p:tag name="INPUTTYPE" val="0"/>
  <p:tag name="LATEXENGINEID" val="0"/>
  <p:tag name="TEMPFOLDER" val="C:\Users\Abhilash S\Documents\temp\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150</Words>
  <Application>Microsoft Office PowerPoint</Application>
  <PresentationFormat>On-screen Show (4:3)</PresentationFormat>
  <Paragraphs>50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MS PGothic</vt:lpstr>
      <vt:lpstr>Akzidenz-Grotesk Pro Bold</vt:lpstr>
      <vt:lpstr>Arial</vt:lpstr>
      <vt:lpstr>Calibri</vt:lpstr>
      <vt:lpstr>Office Theme</vt:lpstr>
      <vt:lpstr>Custom Design</vt:lpstr>
      <vt:lpstr>1_Custom Design</vt:lpstr>
      <vt:lpstr>2_Custom Design</vt:lpstr>
      <vt:lpstr>1_Office Theme</vt:lpstr>
      <vt:lpstr>2_Office Theme</vt:lpstr>
      <vt:lpstr>3_Office Theme</vt:lpstr>
      <vt:lpstr>4_Office Theme</vt:lpstr>
      <vt:lpstr>Bayes Rule Revisited</vt:lpstr>
      <vt:lpstr>Recall Bayes Rule Discrete</vt:lpstr>
      <vt:lpstr>Bayes Rule Discrete Cont’</vt:lpstr>
      <vt:lpstr>Bayes Rule Continuous</vt:lpstr>
      <vt:lpstr>PowerPoint Presentation</vt:lpstr>
      <vt:lpstr>Bayes Rule Continuous Cont’</vt:lpstr>
      <vt:lpstr>Discrete X Continuous Y</vt:lpstr>
      <vt:lpstr>Bayes Rule  Discrete     Continuous    Cont’ </vt:lpstr>
      <vt:lpstr>Discrete Y Continuous X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Recall Bayes Rule Discrete</dc:title>
  <dc:creator>Cihan Tepedelenlioglu</dc:creator>
  <cp:lastModifiedBy>Abhilash Sureshbabu</cp:lastModifiedBy>
  <cp:revision>11</cp:revision>
  <cp:lastPrinted>2015-09-16T18:35:27Z</cp:lastPrinted>
  <dcterms:created xsi:type="dcterms:W3CDTF">2015-06-06T00:45:14Z</dcterms:created>
  <dcterms:modified xsi:type="dcterms:W3CDTF">2016-02-19T00:20:54Z</dcterms:modified>
</cp:coreProperties>
</file>