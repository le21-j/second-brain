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60" r:id="rId4"/>
    <p:sldId id="259" r:id="rId5"/>
    <p:sldId id="261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8A5CDB-F2C5-4791-B7FB-4600DDAED70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759985-B3BF-45C9-9164-C6448EDC9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97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867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0F367-176B-4A2D-AFE2-2676BE86167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20A1A-4400-419B-B935-A4CE06478E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21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0F367-176B-4A2D-AFE2-2676BE86167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20A1A-4400-419B-B935-A4CE06478E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234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0F367-176B-4A2D-AFE2-2676BE86167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20A1A-4400-419B-B935-A4CE06478E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202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0F367-176B-4A2D-AFE2-2676BE86167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20A1A-4400-419B-B935-A4CE06478E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007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0F367-176B-4A2D-AFE2-2676BE86167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20A1A-4400-419B-B935-A4CE06478E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43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0F367-176B-4A2D-AFE2-2676BE86167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20A1A-4400-419B-B935-A4CE06478E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06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0F367-176B-4A2D-AFE2-2676BE86167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20A1A-4400-419B-B935-A4CE06478E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307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0F367-176B-4A2D-AFE2-2676BE86167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20A1A-4400-419B-B935-A4CE06478E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704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0F367-176B-4A2D-AFE2-2676BE86167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20A1A-4400-419B-B935-A4CE06478E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426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0F367-176B-4A2D-AFE2-2676BE86167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20A1A-4400-419B-B935-A4CE06478E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757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0F367-176B-4A2D-AFE2-2676BE86167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20A1A-4400-419B-B935-A4CE06478E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09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D0F367-176B-4A2D-AFE2-2676BE86167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20A1A-4400-419B-B935-A4CE06478E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879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ocw.mit.edu/courses/electrical-engineering-and-computer-science/6-041-probabilistic-systems-analysis-and-applied-probability-fall-201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creativecommons.org/licenses/by-nc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Binomial Probabilities</a:t>
            </a:r>
            <a:endParaRPr lang="en-US" sz="36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24000"/>
            <a:ext cx="503983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419600"/>
            <a:ext cx="4670855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587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Example</a:t>
            </a:r>
            <a:endParaRPr lang="en-US" sz="36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752600"/>
            <a:ext cx="4973314" cy="445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679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000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Example (Repetition Code)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717755" y="2057400"/>
            <a:ext cx="6309548" cy="32316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To communicate 1 we send 111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To communicate 0 we send 000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We receive 3 (possibly toggled) bits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Bits toggle with </a:t>
            </a:r>
            <a:r>
              <a:rPr lang="en-US" sz="2400" smtClean="0"/>
              <a:t>probability </a:t>
            </a:r>
            <a:r>
              <a:rPr lang="en-US" sz="2400" i="1" dirty="0"/>
              <a:t>p</a:t>
            </a:r>
            <a:r>
              <a:rPr lang="en-US" sz="2400" i="1" smtClean="0"/>
              <a:t> </a:t>
            </a:r>
            <a:r>
              <a:rPr lang="en-US" sz="2400" dirty="0" smtClean="0"/>
              <a:t>independently</a:t>
            </a:r>
            <a:endParaRPr lang="en-US" sz="2400" i="1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Receiver does majority combining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What is the probability that receiver is fooled?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521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 and Citations</a:t>
            </a:r>
            <a:endParaRPr lang="en-US" sz="36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5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57381" y="1676400"/>
            <a:ext cx="6954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 panose="020B0604020202020204" pitchFamily="34" charset="0"/>
              </a:rPr>
              <a:t>Parts of these slides are adapted from the following resources: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711" y="3048000"/>
            <a:ext cx="69549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Power Point Lecture Slides for the Textbook </a:t>
            </a:r>
            <a:r>
              <a:rPr lang="en-US" sz="2000" dirty="0" smtClean="0"/>
              <a:t>http</a:t>
            </a:r>
            <a:r>
              <a:rPr lang="en-US" sz="2000" dirty="0"/>
              <a:t>://</a:t>
            </a:r>
            <a:r>
              <a:rPr lang="en-US" sz="2000" dirty="0" smtClean="0"/>
              <a:t>bcs.wiley.com/hebcs/Books?action=index&amp;bcsId=8676&amp;itemId=1118324560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John </a:t>
            </a:r>
            <a:r>
              <a:rPr lang="en-US" sz="2000" dirty="0" err="1"/>
              <a:t>Tsitsiklis</a:t>
            </a:r>
            <a:r>
              <a:rPr lang="en-US" sz="2000" dirty="0"/>
              <a:t>. </a:t>
            </a:r>
            <a:r>
              <a:rPr lang="en-US" sz="2000" i="1" dirty="0"/>
              <a:t>6.041 Probabilistic Systems Analysis and Applied Probability, Fall 2010</a:t>
            </a:r>
            <a:r>
              <a:rPr lang="en-US" sz="2000" dirty="0"/>
              <a:t>. (Massachusetts Institute of Technology: </a:t>
            </a:r>
            <a:r>
              <a:rPr lang="en-US" sz="2000" dirty="0" smtClean="0"/>
              <a:t>MIT </a:t>
            </a:r>
            <a:r>
              <a:rPr lang="en-US" sz="2000" dirty="0" err="1" smtClean="0"/>
              <a:t>OpenCourseWare</a:t>
            </a:r>
            <a:r>
              <a:rPr lang="en-US" sz="2000" dirty="0"/>
              <a:t>),</a:t>
            </a:r>
            <a:r>
              <a:rPr lang="en-US" sz="2000" dirty="0">
                <a:hlinkClick r:id="rId3"/>
              </a:rPr>
              <a:t>http://ocw.mit.edu</a:t>
            </a:r>
            <a:r>
              <a:rPr lang="en-US" sz="2000" dirty="0"/>
              <a:t> (Accessed 13 Apr, 2015). License: </a:t>
            </a:r>
            <a:r>
              <a:rPr lang="en-US" sz="2000" dirty="0">
                <a:hlinkClick r:id="rId4"/>
              </a:rPr>
              <a:t>Creative Commons </a:t>
            </a:r>
            <a:r>
              <a:rPr lang="en-US" sz="2000" dirty="0" smtClean="0">
                <a:hlinkClick r:id="rId4"/>
              </a:rPr>
              <a:t>BY-NC-SA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1695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79</Words>
  <Application>Microsoft Office PowerPoint</Application>
  <PresentationFormat>On-screen Show (4:3)</PresentationFormat>
  <Paragraphs>18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MS PGothic</vt:lpstr>
      <vt:lpstr>Akzidenz-Grotesk Pro Bold</vt:lpstr>
      <vt:lpstr>Arial</vt:lpstr>
      <vt:lpstr>Calibri</vt:lpstr>
      <vt:lpstr>Office Theme</vt:lpstr>
      <vt:lpstr>Binomial Probabilities</vt:lpstr>
      <vt:lpstr>Example</vt:lpstr>
      <vt:lpstr>PowerPoint Presentation</vt:lpstr>
      <vt:lpstr>Example (Repetition Code)</vt:lpstr>
      <vt:lpstr>Acknowledgements and Citations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Binomial Probabilities</dc:title>
  <dc:creator>Cihan Tepedelenlioglu</dc:creator>
  <cp:lastModifiedBy>Abhilash Sureshbabu</cp:lastModifiedBy>
  <cp:revision>4</cp:revision>
  <dcterms:created xsi:type="dcterms:W3CDTF">2015-06-06T00:26:09Z</dcterms:created>
  <dcterms:modified xsi:type="dcterms:W3CDTF">2016-02-19T00:09:12Z</dcterms:modified>
</cp:coreProperties>
</file>